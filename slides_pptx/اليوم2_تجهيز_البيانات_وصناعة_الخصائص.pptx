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 اليوم بما سبق: أمس عرفنا الأعمدة؛ اليوم نقرر كيف يتعامل النموذج مع كل عمود.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طالبين تسمية خاصية وهدف. ثم انتقل مباشرة إلى مشكلات البيانات الخام.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تسمِّ هذه المشكلات «أخطاء» كلها؛ أحيانًا تحمل الخلية الفارغة معلومة عن طريقة جمع البيانات.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استخدم تشبيه وصفة طبخ: المكونات غير المجهزة لا تصبح وجبة جيدة لمجرد أن الفرن قوي.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اسأل: هل الرمز البريدي رقم عددي؟ غالبًا لا، لأنه اسم منطقة مكتوب بأرقام.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أكد أن ترتيب الفئات لا يأتينا من شكل النص أو من ترتيب ظهورها في الملف.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تجعل الطالب يعتقد أن 0 و1 يحددان نوع المسألة؛ المعنى هو الذي يحددها.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المعالجة الصحيحة تعتمد على السؤال. لا نحول كل تاريخ إلى رقم كبير بلا سبب.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الطلاب إبقاء هذه القائمة قربهم؛ ستصبح الجزء الأول من كل مشروع.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اقرأ `shape` بالترتيب الصحيح: الصفوف أولًا، ثم الأعمدة. لا تستنتج جودة البيانات من أول خمسة صفوف فقط.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عرّف كلمة «غير فارغة» فقط. لا تدخل في تفاصيل الذاكرة أو أنواع بايثون المتقدمة.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الإحصاءات تعطي إشارة للفحص، لا حكمًا نهائيًا. قيمة بعيدة قد تكون صحيحة أو خطأ في الإدخال.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أخبر الطلاب أن اليوم سيستخدم خيارين بسيطين حتى يركزوا على سير العمل بدل وصفات كثيرة.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تطلب من الطلاب حفظ نسبة حذف ثابتة. القرار يعتمد على حجم البيانات والسياق ومعنى النقص.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أن 3.5 هنا قيمة حسابية مسموحة ولو لم تظهر حرفيًا في الجدول. لا تشتق معادلات.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وضح أن هذا اختيار عملي بسيط، لا ادعاء أن المنطقة الناقصة كانت فعلًا شمالًا.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الرسالة: التنظيف قرار مبني على المعنى. لا تحذف دون توثيق أو فحص.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اربطها بفخ معلومات المستقبل في اليوم الأول. النموذج لا يحل مشكلة حقيقية إذا عرف الإجابة ضمن الخصائص.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ركز على التفكير: لا نضيف عمودًا لمجرد أن الكود يسمح بذلك.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هذه خاصية مقترحة وليست حقيقة مضمونة. نقيس فائدتها في التقييم بدل افتراضها.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أن الرقم لا يثبت أن العلاقة صحيحة؛ هو مجرد طريقة لتجميع إشارتين نختبر فائدتها.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التسريب من أكثر أسباب النتائج المبهرة غير القابلة للاستخدام. سنعالج الوقاية منه عبر خط المعالجة.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تقل إن التحجيم مفيد لكل نموذج. في هذه الدورة نضعه في المسار المنظم للأعمدة العددية.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الصيغة كترجمة لسؤال: كم تبعد هذه القيمة عن المعتاد؟ لا تطلب حسابًا ورقيًا.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احتفظ بالمثال بسيطًا. لا تشرح التمثيل المتناثر أو كل إعدادات الترميز.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عبارة «فئة غير معروفة» بمثال منطقة لم تظهر في التدريب. السلوك المطلوب هو عدم توقف البرنامج.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استخدم تشبيه التمرين والاختبار الدراسي: لا نحل الأسئلة النهائية ثم ندعي أننا لم نرها.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أن 42 ليس رقمًا سحريًا؛ هو اختيار ثابت حتى يرى الجميع التقسيم نفسه.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 ترتيب المتغيرات: كل صف في X_train يقابله هدف في y_train. لا نحتاج إلى شرح كل تفاصيل الدالة.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الخط يمنعنا من نسيان خطوة أو تطبيقها بطريقة مختلفة على الاختبار.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تحفظ اسم الصنف؛ المطلوب فهم أن كل نوع بيانات يأخذ معالجة مناسبة.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المرة لا تعرض الحل كاملًا فورًا؛ دع الأزواج يكتبون قوائم الأعمدة أولًا ثم راجعها.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مرّ على المجموعات واسأل «لماذا؟» بدل إعطاء الإجابة. راجع خصوصًا الأعمدة التي قد تسرب معلومة مستقبلية.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أوضح أن أسماء الأعمدة قد تختلف في ملف المدرب؛ الطالب يتبع الملف الفعلي لا هذا المثال فقط.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اقرأ التسلسل من أعلى إلى أسفل. لا نحتاج في هذا اليوم إلى تحويل النتيجة ورؤيتها يدويًا.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شجع على قراءة آخر سطر من رسالة الخطأ. ساعد الطالب في تحديد موضع المشكلة ثم دعه يطبق التصحيح.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أكّد أن عدم ظهور توقع اليوم طبيعي؛ التجهيز مرحلة كاملة بحد ذاتها.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 خروج: لماذا لا نرّمز «شمال» و«غرب» كـ1 و2؟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image" Target="../media/image-2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image" Target="../media/image-2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1.png"/><Relationship Id="rId3" Type="http://schemas.openxmlformats.org/officeDocument/2006/relationships/image" Target="../media/image-27-3.png"/><Relationship Id="rId4" Type="http://schemas.openxmlformats.org/officeDocument/2006/relationships/image" Target="../media/image-2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1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1.png"/><Relationship Id="rId3" Type="http://schemas.openxmlformats.org/officeDocument/2006/relationships/image" Target="../media/image-36-3.png"/><Relationship Id="rId4" Type="http://schemas.openxmlformats.org/officeDocument/2006/relationships/image" Target="../media/image-3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1.png"/><Relationship Id="rId3" Type="http://schemas.openxmlformats.org/officeDocument/2006/relationships/image" Target="../media/image-3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أهداف اليوم الثاني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38</a:t>
            </a:r>
            <a:endParaRPr lang="en-US" sz="1000" dirty="0"/>
          </a:p>
        </p:txBody>
      </p:sp>
      <p:pic>
        <p:nvPicPr>
          <p:cNvPr id="7" name="Image 0" descr="/home/claude/work/assets/illustrations/optimized/img_glass_pipel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51710"/>
            <a:ext cx="5486400" cy="30861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1417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تحديد مهارات تجهيز البيانات التي سينفذها الطالب.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109960" y="2382012"/>
            <a:ext cx="292608" cy="2926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09960" y="23820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148840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أفحص جودة البيانات بدل افتراض أنها جاهزة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109960" y="3140964"/>
            <a:ext cx="292608" cy="2926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09960" y="31409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907792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أتعامل مع القيم الناقصة باختيار مبرر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109960" y="3899916"/>
            <a:ext cx="292608" cy="2926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09960" y="38999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3666744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أفرق بين الأعمدة العددية والفئوية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109960" y="4658868"/>
            <a:ext cx="292608" cy="2926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109960" y="46588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4425696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أحوّل الفئات إلى تمثيل مناسب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1109960" y="5417820"/>
            <a:ext cx="292608" cy="2926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1109960" y="54178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263640" y="5184648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أبني خط معالجة يعيد نفس الخطوات كل مرة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استرجاع سريع: ما الذي نعرفه؟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لدينا سؤال: هل سيتأخر الطلب؟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1" descr="/home/claude/work/assets/icons/Fa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لدينا خصائص وهدف محتمل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لدينا ملف فيه خلايا ناقصة ونصوص وأرقام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السؤال اليوم: كيف نجهز هذه الخصائص من دون خداع الاختبار؟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البيانات الخام ليست جاهزة تلقائيًا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FF4EE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19608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خلايا فارغة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373532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كلمات مثل «شمال» و«غرب»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137392" y="527456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قيم بمقاييس مختلفة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صفوف مكررة أو قيم غير منطقية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أعمدة لا تخدم السؤال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لماذا يهم تجهيز البيانات؟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النموذج يرى ما نمرره إليه، لا ما نعنيه في رؤوسنا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قيمة فارغة ليست رقمًا مفيدًا تلقائيًا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ترميز خاطئ قد يوحي بترتيب غير حقيقي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تجهيز مختلف للتدريب والاختبار يعطي تقييمًا مضللًا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نوع العمود: عددي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7938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أمثلة: المسافة، عدد المنتجات، دقائق التوصيل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0" descr="/home/claude/work/assets/icons/FaBalance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الفرق بين 10 و20 له معنى كمي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يمكننا وصفها بالحد الأدنى والوسيط والمتوسط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974086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لكن الرقم في الملف ليس دائمًا قيمة عددية ذات معنى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نوع العمود: فئوي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7938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أمثلة: المنطقة، نوع العقد، طريقة الدفع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0" descr="/home/claude/work/assets/icons/FaT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القيمة تمثل اسم فئة لا مقدارًا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«غرب» ليست أكبر أو أصغر من «شمال»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نحتاج إلى تمثيل منظم قبل إدخالها إلى النموذج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نوع العمود: ثنائي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FlagCheck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أمثلة: عطلة نهاية الأسبوع، متأخر، سيغادر الخدمة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1" descr="/home/claude/work/assets/icons/Fa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يمكن أن تظهر كنعم/لا أو صحيح/خطأ أو 0/1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2" descr="/home/claude/work/assets/icons/Fa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نسأل عن معنى 1 و0 في وصف البيانات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3" descr="/home/claude/work/assets/icons/Fa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الهدف الثنائي مناسب غالبًا لمهمة تصنيف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الأعمدة الخاصة: التاريخ والمعرّف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T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التاريخ قد يحمل وقتًا أو يوم أسبوع أو موسمية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المعرّف يستخدم للتتبع غالبًا لا للتنبؤ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نعطي «2026-09-01» للنموذج كما هو في هذا المستوى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2" descr="/home/claude/work/assets/icons/Fa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يمكن لاحقًا استخراج معلومة مفيدة مثل «وقت الطلب مساء»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خطة فحص البيانات في خمس أسئلة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FF4EE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19608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كم صفًا وكم عمودًا؟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373532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نوع كل عمود؟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137392" y="527456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أين القيم الناقصة؟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توجد قيم غريبة أو مكررة؟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فئات الهدف متوازنة تقريبًا؟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رؤية البداية: head وshape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FF4EE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`head()` يعرض أمثلة من الصفوف الأولى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`shape` يعرض عدد الصفوف ثم الأعمدة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هذه نظرة أولية، وليست حكمًا على كل البيانات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افحص أسماء الأعمدة بحثًا عن التكرار أو الالتباس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ماذا تخبرنا info؟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اسم العمود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نوع القيمة الذي قرأه البرنامج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عدد القيم غير الفارغة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1" descr="/home/claude/work/assets/icons/Fa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استخدمها لاكتشاف نص قرأ كرقم أو العكس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وصف الأرقام: describe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FF4EE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الحد الأدنى والأقصى: هل القيمة ممكنة؟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الوسيط: قيمة وسطى بعد ترتيب القيم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المتوسط: ملخص عام قد يتأثر بالقيم الكبيرة جدًا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العدد: كم قيمة موجودة فعلًا؟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القيم الناقصة: لاحظها قبل علاجها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القيمة الناقصة ليست صفرًا تلقائيًا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نحسب النقص في كل عمود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نسأل: هل النقص قليل؟ هل له معنى؟ هل العمود مهم؟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3" descr="/home/claude/work/assets/icons/FaMicro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نملأ القيم من الاختبار عند تقييم النموذج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ثلاثة قرارات للقيمة الناقصة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حذف صف: إذا كان النقص نادرًا والصف غير حاسم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حذف عمود: إذا كان ناقصًا جدًا أو غير مفيد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2" descr="/home/claude/work/assets/icons/Fa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تعويض قيمة: عندما نريد الاحتفاظ بالصف ومعنى التعويض واضح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3" descr="/home/claude/work/assets/icons/Fa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يوجد حل واحد صالح لكل البيانات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تعويض الرقم بالوسيط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7938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نرتب القيم ونأخذ القيمة الوسطى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0" descr="/home/claude/work/assets/icons/FaShopping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الوسيط أقل تأثرًا بطلب نادر بعيد جدًا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مثال: 2، 3، 4، 50، فراغ → الوسيط 3.5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نحسب الوسيط من بيانات التدريب فقط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تعويض الفئة بالأكثر تكرارًا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نبحث عن الفئة الأكثر ظهورًا في بيانات التدريب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1" descr="/home/claude/work/assets/icons/FaTa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نعوض الخلية الناقصة بهذه الفئة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مثال: شمال، شمال، غرب، شمال، فراغ → شمال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2" descr="/home/claude/work/assets/icons/Fa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نراجع لاحقًا إن كان النقص نفسه يحمل معلومة مهمة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القيم المكررة والقيم غير المنطقية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صف مكرر: هل يمثل إدخالًا مكررًا أم حدثًا متكررًا حقيقيًا؟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1" descr="/home/claude/work/assets/icons/Fa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مسافة سالبة: تحتاج مراجعة لأنها غير منطقية غالبًا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2" descr="/home/claude/work/assets/icons/FaExclamationTria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عدد منتجات 0: قد يكون خطأ أو طلبًا خاصًا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3" descr="/home/claude/work/assets/icons/Fa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نكتب قرارنا في الدفتر قبل تغيير البيانات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اختيار الأعمدة: ما الذي نستبعده؟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UserFri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المعرّفات: رقم طلب أو رقم عميل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1" descr="/home/claude/work/assets/icons/Fa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الهدف نفسه: لا يدخل ضمن X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2" descr="/home/claude/work/assets/icons/Fa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معلومة بعد الحدث: مثل وقت الوصول الفعلي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3" descr="/home/claude/work/assets/icons/Fa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عمود غير مفهوم: لا نستخدمه قبل معرفة معناه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هندسة الخصائص: ما المقصود؟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هندسة الخصائص (Feature Engineering): اشتقاق عمود مفيد من أعمدة موجودة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نختلق معلومات جديدة عن المستقبل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الخاصية الجديدة يجب أن تخدم السؤال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974086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نبدأ بخاصية بسيطة يمكن تفسيرها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مثال: تحويل وقت إلى فترة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Shopping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ساعة الطلب 08:20 → صباح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1" descr="/home/claude/work/assets/icons/FaShopping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ساعة الطلب 14:10 → ظهر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2" descr="/home/claude/work/assets/icons/FaShopping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ساعة الطلب 20:45 → مساء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974086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الفترة قد تساعد على التقاط اختلاف الضغط على التوصيل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مثال: خاصية عبء الطلب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7938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مسافة طويلة + عدد منتجات كبير قد تعني عبئًا أعلى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يمكن إنشاء مؤشر مبسط: `distance_km * items_count`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نسمي الخاصية اسمًا مفهومًا: `order_load`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74086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نستخدمها إذا كانت إحدى القيم غير متاحة لحظة التوقع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فخ: تسريب البيانات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59</a:t>
            </a:r>
            <a:endParaRPr lang="en-US" sz="1000" dirty="0"/>
          </a:p>
        </p:txBody>
      </p:sp>
      <p:pic>
        <p:nvPicPr>
          <p:cNvPr id="7" name="Image 0" descr="/home/claude/work/assets/illustrations/optimized/img_privacy_br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51710"/>
            <a:ext cx="5486400" cy="30861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1417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تسمية ومنع استخدام معلومة تقود إلى نتيجة مضللة.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109960" y="2476881"/>
            <a:ext cx="292608" cy="2926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09960" y="247688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14884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تسريب البيانات (Data Leakage): وصول النموذج إلى معلومة لا يملكها وقت الاستخدام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109960" y="3425571"/>
            <a:ext cx="292608" cy="2926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09960" y="34255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309753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وقت الوصول الفعلي لا يساعد في توقع الوصول قبل حدوثه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109960" y="4374261"/>
            <a:ext cx="292608" cy="2926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09960" y="437426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404622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تعويض أو تحجيم باستخدام كل البيانات قد يكشف جزءًا من الاختبار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109960" y="5322951"/>
            <a:ext cx="292608" cy="2926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109960" y="53229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499491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القاعدة: يتعلم التجهيز من التدريب، ثم يطبق على الاختبار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التحجيم: لماذا تختلف المقاييس؟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7938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المسافة قد تكون بين 1 و30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قيمة فاتورة قد تكون بين 20 و2000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بعض النماذج تتأثر عندما يطغى مدى رقمي كبير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0" descr="/home/claude/work/assets/icons/FaBalance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التحجيم يجعل المقاييس قابلة للمقارنة دون تغيير ترتيبها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فكرة التحجيم بصيغة مرئية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الفكرة: نطرح متوسط العمود ثم نقسم على مقدار تشتته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الصيغة: القيمة المعيارية = (القيمة − متوسط العمود) ÷ تشتت العمود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بعد التحجيم تصبح قيمة 0 تقريبًا قريبة من الوسط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2" descr="/home/claude/work/assets/icons/Fa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نحسبها يدويًا؛ تستخدم الأداة بيانات التدريب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الترميز الأحادي للفئات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FF4EE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نكتب: شمال = 1، غرب = 2؛ فهذا يوحي بترتيب غير حقيقي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الترميز الأحادي (One-Hot Encoding): عمود مستقل لكل فئة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الفئة الموجودة = 1، الفئات الأخرى = 0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مثال: غرب → شمال 0، غرب 1، وسط 0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كيف نقرأ كود الترميز؟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7938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نستخدم `OneHotEncoder` للفئات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0" descr="/home/claude/work/assets/icons/FaT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نستخدم `handle_unknown="ignore"` للفئة الجديدة غير المعروفة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نشغّل الترميز يدويًا مرة للتدريب ومرة للاختبار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974086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سنضعه داخل خط معالجة واحد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تقسيم البيانات: التدريب والاختبار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بيانات التدريب: يتعلم منها النموذج والتجهيز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بيانات الاختبار: نحتفظ بها للفحص النهائي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2" descr="/home/claude/work/assets/icons/Fa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 مبدئي: 80% تدريب و20% اختبار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3" descr="/home/claude/work/assets/icons/FaMicro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نريد أن يشبه الاختبار حالات لم يرها النموذج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التقسيم المتوازن للفئات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إذا كانت فئة التأخر قليلة، نريد ظهورها في التدريب والاختبار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نستخدم `stratify=y` للمحافظة على توزيع الفئات تقريبًا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1" descr="/home/claude/work/assets/icons/Fa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نثبت العشوائية بـ `random_state=42` لتتكرر التجربة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2" descr="/home/claude/work/assets/icons/FaBalanceSc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هذا لا يضمن نتيجة جيدة؛ يجعل المقارنة قابلة للإعادة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كود التقسيم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4800600"/>
          </a:xfrm>
          <a:prstGeom prst="roundRect">
            <a:avLst>
              <a:gd name="adj" fmla="val 1905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2494483"/>
            <a:ext cx="10872216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نفصل X للخصائص وy للهدف قبل التقسيم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 المعالجة: الوصفة التي تتكرر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67</a:t>
            </a:r>
            <a:endParaRPr lang="en-US" sz="1000" dirty="0"/>
          </a:p>
        </p:txBody>
      </p:sp>
      <p:pic>
        <p:nvPicPr>
          <p:cNvPr id="7" name="Image 0" descr="/home/claude/work/assets/illustrations/optimized/img_glass_pipel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51710"/>
            <a:ext cx="5486400" cy="30861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1417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تعريف Pipeline كحل منظم للتجهيز والنموذج.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109960" y="2476881"/>
            <a:ext cx="292608" cy="2926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09960" y="247688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14884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 المعالجة (Pipeline): سلسلة خطوات تنفذ بالترتيب نفسه كل مرة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109960" y="3425571"/>
            <a:ext cx="292608" cy="2926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09960" y="34255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309753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للأرقام: تعويض ثم تحجيم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109960" y="4374261"/>
            <a:ext cx="292608" cy="2926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09960" y="437426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404622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للفئات: تعويض ثم ترميز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109960" y="5322951"/>
            <a:ext cx="292608" cy="2926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109960" y="53229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499491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بعدها يصل الناتج إلى النموذج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ColumnTransformer: مساران لأنواع مختلفة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7938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نعالج المسافة والمنطقة بالطريقة نفسها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0" descr="/home/claude/work/assets/icons/Fa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`ColumnTransformer` يرسل كل مجموعة أعمدة إلى مسارها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المخرج يجمع الأعمدة المجهزة في مصفوفة واحدة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2" descr="/home/claude/work/assets/icons/Fa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نحدد القوائم بوضوح حتى تكون قراراتنا قابلة للمراجعة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2: المهمة والبيانات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هدف المختبر: بناء `preprocessor` يعالج أرقام وفئات بيانات التوصيل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السيناريو أو البيانات: `طلبات_التوصيل.csv`؛ الهدف `late`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2" descr="/home/claude/work/assets/icons/Fa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خطوات التنفيذ: فحص → قوائم أعمدة → تقسيم → مسارات معالجة → اختبار تشغيل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3" descr="/home/claude/work/assets/icons/FaMicro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النتيجة المتوقعة: متغير `preprocessor` جاهز للنموذج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5" name="Image 4" descr="/home/claude/work/assets/icons/Fa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المهارات التي يراجعها الطالب: النقص، الترميز، التحجيم، التقسيم، منع التسريب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2: استكشاف وقرار المعالجة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70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FF4EE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1. شغّل `info()` و`isna().sum()`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2. صنّف الأعمدة: عددية، فئوية، معرّف، هدف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3. اكتب قرارًا من سطر واحد لكل مجموعة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4. استبعد أي عمود غير متاح عند لحظة التوقع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2: بناء مسار الأرقام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71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4800600"/>
          </a:xfrm>
          <a:prstGeom prst="roundRect">
            <a:avLst>
              <a:gd name="adj" fmla="val 1905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2494483"/>
            <a:ext cx="10872216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سيكتبه الطالب: قائمة الأعمدة العددية ومسار تعويض وتحجيم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2: بناء مسار الفئات والجمع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72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rot="10800000">
            <a:off x="6076188" y="3118104"/>
            <a:ext cx="4814316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8" name="Shape 6"/>
          <p:cNvSpPr/>
          <p:nvPr/>
        </p:nvSpPr>
        <p:spPr>
          <a:xfrm>
            <a:off x="8227314" y="2743200"/>
            <a:ext cx="1005840" cy="1005840"/>
          </a:xfrm>
          <a:prstGeom prst="ellipse">
            <a:avLst/>
          </a:prstGeom>
          <a:solidFill>
            <a:srgbClr val="F2652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7314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167628" y="3913632"/>
            <a:ext cx="51252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سيكتبه الطالب: قائمة الأعمدة الفئوية، تعوي…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55798" y="2743200"/>
            <a:ext cx="1005840" cy="1005840"/>
          </a:xfrm>
          <a:prstGeom prst="ellipse">
            <a:avLst/>
          </a:prstGeom>
          <a:solidFill>
            <a:srgbClr val="F2652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55798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913632"/>
            <a:ext cx="51252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شغّل الخلية وتأكد أن لا يظهر خطأ قبل الانتقال…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إكمال مسار الفئات وتجميعه داخل preprocessor.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2: معالجة مشكلة شائعة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73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خطأ اسم عمود: اطبع `orders.columns` وتحقق من الكتابة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خطأ نوع عمود: ارجع إلى `info()`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2" descr="/home/claude/work/assets/icons/FaExclamationTria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خطأ مكتبة غير مستوردة: ارجع إلى خلية الاستيراد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3" descr="/home/claude/work/assets/icons/Fa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تغيّر البيانات عشوائيًا لإخفاء الخطأ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التحقق الختامي لليوم الثاني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74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93580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لدينا X وy منفصلان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لدينا تدريب واختبار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028444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لدينا قوائم أعمدة واضحة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لدينا `preprocessor` لا يدرب نموذجًا بعد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5" name="Image 2" descr="/home/claude/work/assets/icons/Fa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غدًا: نضع النموذج في نهاية الخط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265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ملخص اليوم الثاني وتمهيد الغد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75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9" name="Image 0" descr="/home/claude/work/assets/icons/Fa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افحص المعنى قبل اختيار المعالجة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1" descr="/home/claude/work/assets/icons/FaTa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عالج الرقم والفئة بطريقتين مختلفتين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2" descr="/home/claude/work/assets/icons/Fa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تعلم من التدريب فقط ثم طبق على الاختبار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3" descr="/home/claude/work/assets/icons/FaSync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 المعالجة يجعل التكرار آمنًا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FF4EE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5" name="Image 4" descr="/home/claude/work/assets/icons/FaTa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غدًا: تصنيف للتأخر وانحدار لدقائق التوصيل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2026-09-07T22:19:00Z</dcterms:created>
  <dcterms:modified xsi:type="dcterms:W3CDTF">2026-09-07T22:19:00Z</dcterms:modified>
</cp:coreProperties>
</file>