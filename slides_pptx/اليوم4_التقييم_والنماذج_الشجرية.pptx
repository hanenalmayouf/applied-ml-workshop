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ذكر الطلاب: لدينا الآن توقعات، لكن لا نعرف هل تساعد قرارًا فعليًا حتى نقيسها.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اطلب أن يشرح طالب لماذا لم نستخدم y_test داخل `predict`.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ناقش مثالين: فريق صغير يتعب من التنبيهات، وطلب طبي أو حساس يكون فيه تفويت الحالة أخطر.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ركز على أن الدقة سؤال واحد فقط: عدد الإجابات الصحيحة الكلي.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تستخدم الاختصارات الإنجليزية في البداية؛ اجعل الطالب يقرأ المعنى من الصف والعمود.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اطلب من الطلاب تحديد خانة «العميل الذي كان يحتاج تنبيهًا ولم يظهر» قبل أن تشرحها.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كرر السؤال اللفظي حرفيًا؛ يساعد ذلك على تمييزه لاحقًا عن الاستدعاء.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قارن مباشرة: الإحكام يبدأ من تنبيهاتنا، والاستدعاء يبدأ من كل الحالات المتأخرة فعليًا.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قل إن رقم F1 يلخص، لكنه لا يشرح نوع الخطأ. لذلك نعود للمصفوفة دائمًا.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هذه قواعد بداية وليست قانونًا جامدًا. اسأل دومًا صاحب القرار ما الأثر الحقيقي للخطأ.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تختر رقمًا «مقبولًا» عامًا. النتيجة تتحدد بسياق البيانات والقرار.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ذكّر الطلاب باستيراد Matplotlib في أعلى الدفتر. لا تعط معنى للون وحده؛ اشرح الخانات.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اربط المقياس بلغة أعمال: متوسط فرق خمس دقائق مفهوم أكثر من مقياس لا يمكن شرحه.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يلزم حساب يدوي مفصل؛ استخدم المثال البصري لإزالة فكرة أن الخطأ السالب يلغي الموجب.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قل للمبتدئ إن MAE هو القصة الأكثر مباشرة في مشروع التوصيل، وR² سياق إضافي.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حذر من مقارنة MAE بين هدفين بوحدتين مختلفتين بلا فهم للسياق.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اشرح أن نقطة فوق الخط تعني توقعًا أعلى من الواقع، ونقطة تحته تعني توقعًا أقل.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شبهها بمقارنة عدّائين على المضمار نفسه وبالمسافة نفسها، لا في ظروف مختلفة.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تقل إن تقسيمًا واحدًا عديم الفائدة؛ هو مفيد للاختبار النهائي، لكن المقارنة تستفيد من تكرار داخل التدريب.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كرر أن بيانات الاختبار النهائية ليست واحدة من هذه الطيات.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اشرح أن `workflow` يحتوي التجهيز والنموذج، وهكذا يتعلم التجهيز من جزء التدريب داخل كل جولة.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هذه عادة مهنية مهمة. لا تجعل الطلاب يعيدون اختيار الإعدادات حتى يعجبهم رقم الاختبار.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اشرح أن الملاحظة ليست دليلًا سببيًا. هي سؤال أفضل للبيانات أو للتجهيز.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تقل «المسافة سببت الخطأ»؛ قل إننا لاحظناها كخاصية مشتركة تستحق الفحص.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عرّف «التعميم» بأنه أداء مفيد على حالات جديدة، لا مجرد نجاح على أمثلة رأيناها.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تطلب من الطالب إنشاء هذه الرسوم في المختبر. وظيفتها بناء حدس بصري.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تدخل في تعريفات إحصائية متقدمة. يكفي ربط الفكرة بنقص وفرط التخصيص.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قل إن تحسين البيانات أو السؤال قد يكون أقوى من تغيير الخوارزمية.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وضح أن التدريب يختار الأسئلة والحدود من البيانات؛ المثال على السلايد للتفسير لا قاعدة مكتوبة يدويًا.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تشرح معايير الانقسام الرياضية. استخدم كلمة «أوضح» بدل أسماء دوال معيارية.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اربط العمق بفرط التخصيص الذي شاهدوه قبل دقائق.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اشرح `random_state` كقيمة تثبت التجربة. لا تدخل في كل إعدادات الشجرة.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شبهها بلجنة: رأي واحد قد يتأثر بعينة محددة؛ تجميع آراء متعددة يكون أكثر استقرارًا غالبًا.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الهدف هو أن يعرف الطالب ماذا يغيّر إذا طُلب منه ذلك، لا أن يضبط عشرات المعاملات.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اشرح «متدرج» بمعنى خطوة بعد خطوة، لا كمعادلة رياضية.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تدخل في التفاصيل الداخلية للمكتبة. ركز على السلوك التعليمي: جرب، قارن، افحص.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تأكد مسبقًا من أن XGBoost مثبت في بيئة المختبر. لا تحول وقت الطلاب إلى إعداد بيئة.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اقرأ الجدول كخريطة اختيارات، لا كقائمة فائزين.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وضح أن نجاح المختبر يتطلب سببًا للاختيار، لا مجرد اسم النموذج الذي حصل على رقم أعلى.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توقف بعد المحطة الرابعة لمراجعة جدول النتائج قبل السماح بالوصول إلى الاختبار.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اطلب من الطالب التحقق أن كل نموذج يتوقع النوع نفسه من الهدف: تصنيف ثنائي.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اشرح أن الجدول يحفظ النتائج بدل الاعتماد على ذاكرة الطالب أو مخرجات متفرقة.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تقبل جملة «XGBoost أفضل لأنه مشهور». اطلب اسم المقياس ومعنى إحدى خانات المصفوفة.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سؤال خروج: ما المعلومتان اللتان تستخدمهما لتبرير اختيار نموذج؟ الإجابة: مقياس المقارنة ومصفوفة الأخطاء.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2.png"/><Relationship Id="rId4" Type="http://schemas.openxmlformats.org/officeDocument/2006/relationships/image" Target="../media/image-2-1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1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1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2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1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2.png"/><Relationship Id="rId4" Type="http://schemas.openxmlformats.org/officeDocument/2006/relationships/image" Target="../media/image-2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1.png"/><Relationship Id="rId4" Type="http://schemas.openxmlformats.org/officeDocument/2006/relationships/image" Target="../media/image-3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1.png"/><Relationship Id="rId3" Type="http://schemas.openxmlformats.org/officeDocument/2006/relationships/image" Target="../media/image-34-3.png"/><Relationship Id="rId4" Type="http://schemas.openxmlformats.org/officeDocument/2006/relationships/image" Target="../media/image-3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image" Target="../media/image-43-2.png"/><Relationship Id="rId4" Type="http://schemas.openxmlformats.org/officeDocument/2006/relationships/image" Target="../media/image-43-4.png"/><Relationship Id="rId5" Type="http://schemas.openxmlformats.org/officeDocument/2006/relationships/image" Target="../media/image-43-2.png"/><Relationship Id="rId6" Type="http://schemas.openxmlformats.org/officeDocument/2006/relationships/image" Target="../media/image-43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CBD4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أهداف اليوم الرابع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112</a:t>
            </a:r>
            <a:endParaRPr lang="en-US" sz="1000" dirty="0"/>
          </a:p>
        </p:txBody>
      </p:sp>
      <p:pic>
        <p:nvPicPr>
          <p:cNvPr id="7" name="Image 0" descr="/home/claude/work/assets/illustrations/optimized/img_trees_ensemb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251710"/>
            <a:ext cx="5486400" cy="30861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263640" y="141732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i="1" dirty="0">
                <a:solidFill>
                  <a:srgbClr val="55555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تحديد مهارات قياس النموذج ومقارنة النماذج الشجرية.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1109960" y="2318766"/>
            <a:ext cx="292608" cy="292608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109960" y="231876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263640" y="2148840"/>
            <a:ext cx="4709160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أختار مقياسًا يناسب السؤال وأثر الخطأ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11109960" y="2951226"/>
            <a:ext cx="292608" cy="292608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1109960" y="295122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263640" y="2781300"/>
            <a:ext cx="4709160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أقرأ مصفوفة الالتباس وأحدد الخطأ المهم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11109960" y="3583686"/>
            <a:ext cx="292608" cy="292608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1109960" y="358368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263640" y="3413760"/>
            <a:ext cx="4709160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أستخدم التحقق المتقاطع لمقارنة أكثر عدلًا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11109960" y="4216146"/>
            <a:ext cx="292608" cy="292608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11109960" y="421614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263640" y="4046220"/>
            <a:ext cx="4709160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أميز نقص التخصيص عن فرط التخصيص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11109960" y="4848606"/>
            <a:ext cx="292608" cy="292608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11109960" y="484860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6263640" y="4678680"/>
            <a:ext cx="4709160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أفهم شجرة القرار والغابة العشوائية وXGBoost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11109960" y="5481066"/>
            <a:ext cx="292608" cy="292608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11109960" y="548106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6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263640" y="5311140"/>
            <a:ext cx="4709160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أحلل أخطاء النموذج بدل الاكتفاء برقم واحد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CBD4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استرجاع: ما الذي بنيناه؟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113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113776" y="1463040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593580" y="1854403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pic>
        <p:nvPicPr>
          <p:cNvPr id="9" name="Image 0" descr="/home/claude/work/assets/icons/Fa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67281" y="1928104"/>
            <a:ext cx="419527" cy="41952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223504" y="2494483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بيانات مجّهزة داخل خط معالجة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331208" y="1463040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811012" y="1854403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pic>
        <p:nvPicPr>
          <p:cNvPr id="13" name="Image 1" descr="/home/claude/work/assets/icons/FaMicrochi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4713" y="1928104"/>
            <a:ext cx="419527" cy="41952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440936" y="2494483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نموذج تصنيف للتأخر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548640" y="1463040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028444" y="1854403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pic>
        <p:nvPicPr>
          <p:cNvPr id="17" name="Image 2" descr="/home/claude/work/assets/icons/FaMicrochi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145" y="1928104"/>
            <a:ext cx="419527" cy="41952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58368" y="2494483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نموذج انحدار للدقائق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222492" y="3991356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02296" y="4382719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pic>
        <p:nvPicPr>
          <p:cNvPr id="21" name="Image 3" descr="/home/claude/work/assets/icons/FaTab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5997" y="4456420"/>
            <a:ext cx="419527" cy="41952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332220" y="5022799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توقعات على بيانات اختبار</a:t>
            </a:r>
            <a:endParaRPr lang="en-US" sz="1350" dirty="0"/>
          </a:p>
        </p:txBody>
      </p:sp>
      <p:sp>
        <p:nvSpPr>
          <p:cNvPr id="23" name="Shape 17"/>
          <p:cNvSpPr/>
          <p:nvPr/>
        </p:nvSpPr>
        <p:spPr>
          <a:xfrm>
            <a:off x="2439924" y="3991356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3919728" y="4382719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pic>
        <p:nvPicPr>
          <p:cNvPr id="25" name="Image 4" descr="/home/claude/work/assets/icons/FaCalendarAl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3429" y="4456420"/>
            <a:ext cx="419527" cy="419527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2549652" y="5022799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نستخدم الإجابات المحتفظ بها لنفهم الجودة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CBD4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قبل المقياس: ما الخطأ الذي يهم؟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22492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47938" y="1854403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pic>
        <p:nvPicPr>
          <p:cNvPr id="9" name="Image 0" descr="/home/claude/work/assets/icons/FaQue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1639" y="1928104"/>
            <a:ext cx="419527" cy="41952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332220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في تنبيه التوصيل، هل الأخطر تنبيه زائد أم تأخر لم نلتقطه؟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974086" y="1854403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pic>
        <p:nvPicPr>
          <p:cNvPr id="13" name="Image 1" descr="/home/claude/work/assets/icons/Fa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787" y="1928104"/>
            <a:ext cx="419527" cy="41952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58368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الإجابة تعتمد على قرار فريق العمل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222492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47938" y="4382719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pic>
        <p:nvPicPr>
          <p:cNvPr id="17" name="Image 2" descr="/home/claude/work/assets/icons/FaRulerCombin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1639" y="4456420"/>
            <a:ext cx="419527" cy="41952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32220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المقياس الجيد يجعل نوع الخطأ المراد مراقبته ظاهرًا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548640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974086" y="4382719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pic>
        <p:nvPicPr>
          <p:cNvPr id="21" name="Image 3" descr="/home/claude/work/assets/icons/FaBullsey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7787" y="4456420"/>
            <a:ext cx="419527" cy="41952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58368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لا توجد عبارة مفيدة مثل: «الدقة جيدة» بلا سياق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CBD4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الدقة: البداية وليست النهاية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115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22492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47938" y="1854403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pic>
        <p:nvPicPr>
          <p:cNvPr id="9" name="Image 0" descr="/home/claude/work/assets/icons/FaQue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1639" y="1928104"/>
            <a:ext cx="419527" cy="41952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332220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الدقة (Accuracy): كم توقعًا كان صحيحًا من كل التوقعات؟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974086" y="1854403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pic>
        <p:nvPicPr>
          <p:cNvPr id="13" name="Image 1" descr="/home/claude/work/assets/icons/FaBalanceSca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787" y="1928104"/>
            <a:ext cx="419527" cy="41952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58368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مفيدة عندما تكون الفئات متوازنة وأخطاءها متقاربة الأثر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222492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47938" y="4382719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pic>
        <p:nvPicPr>
          <p:cNvPr id="17" name="Image 2" descr="/home/claude/work/assets/icons/FaShoppingC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1639" y="4456420"/>
            <a:ext cx="419527" cy="41952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32220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قد تخدعنا إذا كانت أغلب الطلبات في الموعد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548640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974086" y="4382719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pic>
        <p:nvPicPr>
          <p:cNvPr id="21" name="Image 3" descr="/home/claude/work/assets/icons/FaThumbsU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7787" y="4456420"/>
            <a:ext cx="419527" cy="41952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58368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مثال: توقع «في الموعد» دائمًا قد يبدو جيدًا ظاهريًا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CBD4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مصفوفة الالتباس: خريطة كل الحالات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116</a:t>
            </a:r>
            <a:endParaRPr lang="en-US" sz="1000" dirty="0"/>
          </a:p>
        </p:txBody>
      </p:sp>
      <p:pic>
        <p:nvPicPr>
          <p:cNvPr id="7" name="Image 0" descr="/home/claude/work/assets/illustrations/optimized/img_check_erro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251710"/>
            <a:ext cx="5486400" cy="30861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263640" y="141732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i="1" dirty="0">
                <a:solidFill>
                  <a:srgbClr val="55555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تقديم الجدول الذي يوضح أين أصاب النموذج وأين أخطأ.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1109960" y="2476881"/>
            <a:ext cx="292608" cy="292608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109960" y="2476881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263640" y="2148840"/>
            <a:ext cx="4709160" cy="948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الصفوف: ما حدث فعلًا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11109960" y="3425571"/>
            <a:ext cx="292608" cy="292608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1109960" y="3425571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263640" y="3097530"/>
            <a:ext cx="4709160" cy="948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الأعمدة: ما توقعه النموذج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11109960" y="4374261"/>
            <a:ext cx="292608" cy="292608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1109960" y="4374261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263640" y="4046220"/>
            <a:ext cx="4709160" cy="948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الخانات القطرية: توقعات صحيحة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11109960" y="5322951"/>
            <a:ext cx="292608" cy="292608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11109960" y="5322951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263640" y="4994910"/>
            <a:ext cx="4709160" cy="948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الخانتان الأخريان: نوعا الخطأ اللذان نحتاج فهمهما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CBD4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قراءة مصفوفة الالتباس خطوة خطوة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117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22492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47938" y="1854403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pic>
        <p:nvPicPr>
          <p:cNvPr id="9" name="Image 0" descr="/home/claude/work/assets/icons/FaCheck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1639" y="1928104"/>
            <a:ext cx="419527" cy="41952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332220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متأخر فعلًا + متأخر متوقع = تنبيه صحيح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974086" y="1854403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2974086" y="1854403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58368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في الموعد فعلًا + متأخر متوقع = تنبيه خاطئ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222492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647938" y="4382719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647938" y="4382719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6332220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متأخر فعلًا + في الموعد متوقع = تأخر لم نلتقطه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548640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2974086" y="4382719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pic>
        <p:nvPicPr>
          <p:cNvPr id="21" name="Image 1" descr="/home/claude/work/assets/icons/FaCheck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787" y="4456420"/>
            <a:ext cx="419527" cy="419527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658368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في الموعد فعلًا + في الموعد متوقع = توقع صحيح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CBD4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الإحكام: هل تنبيهاتنا موثوقة؟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118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22492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47938" y="1854403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pic>
        <p:nvPicPr>
          <p:cNvPr id="9" name="Image 0" descr="/home/claude/work/assets/icons/FaQue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1639" y="1928104"/>
            <a:ext cx="419527" cy="41952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332220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الإحكام (Precision) يجيب: عندما قلت «متأخر»، كم مرة كنت محقًا؟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974086" y="1854403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2974086" y="1854403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58368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ارتفاعه يعني أن التنبيهات أقل إزعاجًا كاذبًا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222492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647938" y="4382719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647938" y="4382719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6332220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نهتم به عندما تكون متابعة كل تنبيه مكلفة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548640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2974086" y="4382719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pic>
        <p:nvPicPr>
          <p:cNvPr id="21" name="Image 1" descr="/home/claude/work/assets/icons/FaMicrochi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787" y="4456420"/>
            <a:ext cx="419527" cy="419527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658368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ينظر إلى التنبيهات التي أصدرها النموذج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CBD4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الاستدعاء: هل التقطنا الحالات المهمة؟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119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22492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47938" y="1854403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pic>
        <p:nvPicPr>
          <p:cNvPr id="9" name="Image 0" descr="/home/claude/work/assets/icons/FaQue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1639" y="1928104"/>
            <a:ext cx="419527" cy="41952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332220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الاستدعاء (Recall) يجيب: من كل الطلبات المتأخرة فعلًا، كم واحدًا التقطنا؟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974086" y="1854403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2974086" y="1854403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58368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ارتفاعه يعني تفويت حالات أقل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222492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647938" y="4382719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pic>
        <p:nvPicPr>
          <p:cNvPr id="17" name="Image 1" descr="/home/claude/work/assets/icons/FaExclamationTriang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1639" y="4456420"/>
            <a:ext cx="419527" cy="419527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6332220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نهتم به عندما يكون تفويت الحالة أخطر من التنبيه الزائد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548640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2974086" y="4382719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pic>
        <p:nvPicPr>
          <p:cNvPr id="21" name="Image 2" descr="/home/claude/work/assets/icons/FaMicrochi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787" y="4456420"/>
            <a:ext cx="419527" cy="419527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58368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ينظر إلى الواقع أولًا ثم إلى ما التقطه النموذج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CBD4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درجة F1: توازن مفيد للمقارنة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120</a:t>
            </a:r>
            <a:endParaRPr lang="en-US" sz="1000" dirty="0"/>
          </a:p>
        </p:txBody>
      </p:sp>
      <p:pic>
        <p:nvPicPr>
          <p:cNvPr id="7" name="Image 0" descr="/home/claude/work/assets/illustrations/optimized/img_model_gaug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251710"/>
            <a:ext cx="5486400" cy="30861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263640" y="141732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i="1" dirty="0">
                <a:solidFill>
                  <a:srgbClr val="55555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تقديم F1 دون معادلة ثقيلة وبيان حدوده.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1109960" y="2476881"/>
            <a:ext cx="292608" cy="292608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109960" y="2476881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263640" y="2148840"/>
            <a:ext cx="4709160" cy="948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درجة F1 تجمع فكرة الإحكام والاستدعاء في رقم واحد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11109960" y="3425571"/>
            <a:ext cx="292608" cy="292608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1109960" y="3425571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263640" y="3097530"/>
            <a:ext cx="4709160" cy="948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نستخدمها عندما نريد توازنًا بين تنبيهات صحيحة والتقاط الحالات المهمة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11109960" y="4374261"/>
            <a:ext cx="292608" cy="292608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1109960" y="4374261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263640" y="4046220"/>
            <a:ext cx="4709160" cy="948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لا تلغي الحاجة إلى رؤية مصفوفة الالتباس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11109960" y="5322951"/>
            <a:ext cx="292608" cy="292608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11109960" y="5322951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263640" y="4994910"/>
            <a:ext cx="4709160" cy="948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سنستخدمها لمقارنة النماذج في المختبر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CBD4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اختيار المقياس: دليل قرار صغير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121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113776" y="1463040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593580" y="1854403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pic>
        <p:nvPicPr>
          <p:cNvPr id="9" name="Image 0" descr="/home/claude/work/assets/icons/FaBulls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67281" y="1928104"/>
            <a:ext cx="419527" cy="41952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223504" y="2494483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فئات متوازنة وأخطاء متقاربة ← ابدأ بالدقة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331208" y="1463040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811012" y="1854403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811012" y="1854403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440936" y="2494483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تنبيه خاطئ مكلف ← راقب الإحكام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48640" y="1463040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028444" y="1854403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pic>
        <p:nvPicPr>
          <p:cNvPr id="17" name="Image 1" descr="/home/claude/work/assets/icons/FaTask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2145" y="1928104"/>
            <a:ext cx="419527" cy="419527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658368" y="2494483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تفويت حالة مهمة مكلف ← راقب الاستدعاء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6222492" y="3991356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702296" y="4382719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pic>
        <p:nvPicPr>
          <p:cNvPr id="21" name="Image 2" descr="/home/claude/work/assets/icons/FaBalanceSca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5997" y="4456420"/>
            <a:ext cx="419527" cy="419527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332220" y="5022799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توازن بينهما ← راقب F1</a:t>
            </a:r>
            <a:endParaRPr lang="en-US" sz="1350" dirty="0"/>
          </a:p>
        </p:txBody>
      </p:sp>
      <p:sp>
        <p:nvSpPr>
          <p:cNvPr id="23" name="Shape 18"/>
          <p:cNvSpPr/>
          <p:nvPr/>
        </p:nvSpPr>
        <p:spPr>
          <a:xfrm>
            <a:off x="2439924" y="3991356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3919728" y="4382719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pic>
        <p:nvPicPr>
          <p:cNvPr id="25" name="Image 3" descr="/home/claude/work/assets/icons/FaTab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3429" y="4456420"/>
            <a:ext cx="419527" cy="419527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2549652" y="5022799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اقرأ المصفوفة في كل الحالات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CBD4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كود مقاييس التصنيف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122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113776" y="1463040"/>
            <a:ext cx="3526536" cy="4800600"/>
          </a:xfrm>
          <a:prstGeom prst="roundRect">
            <a:avLst>
              <a:gd name="adj" fmla="val 2593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593580" y="1854403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593580" y="1854403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3504" y="2494483"/>
            <a:ext cx="3307080" cy="3732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نشغّل المقاييس بعد `predict` فقط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331208" y="1463040"/>
            <a:ext cx="3526536" cy="4800600"/>
          </a:xfrm>
          <a:prstGeom prst="roundRect">
            <a:avLst>
              <a:gd name="adj" fmla="val 2593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811012" y="1854403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pic>
        <p:nvPicPr>
          <p:cNvPr id="13" name="Image 0" descr="/home/claude/work/assets/icons/Fa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4713" y="1928104"/>
            <a:ext cx="419527" cy="419527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440936" y="2494483"/>
            <a:ext cx="3307080" cy="3732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نطبع أكثر من رقم، ثم نقرأ المصفوفة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48640" y="1463040"/>
            <a:ext cx="3526536" cy="4800600"/>
          </a:xfrm>
          <a:prstGeom prst="roundRect">
            <a:avLst>
              <a:gd name="adj" fmla="val 2593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028444" y="1854403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pic>
        <p:nvPicPr>
          <p:cNvPr id="17" name="Image 1" descr="/home/claude/work/assets/icons/FaMicrochi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2145" y="1928104"/>
            <a:ext cx="419527" cy="419527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658368" y="2494483"/>
            <a:ext cx="3307080" cy="3732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لا نختار نموذجًا من رقم واحد دون فحص الأخطاء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CBD4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رسم مصفوفة الالتباس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123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22492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47938" y="1854403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pic>
        <p:nvPicPr>
          <p:cNvPr id="9" name="Image 0" descr="/home/claude/work/assets/icons/FaExclamationTriang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1639" y="1928104"/>
            <a:ext cx="419527" cy="41952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332220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الرسم يجعل مكان الخطأ ظاهرًا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974086" y="1854403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pic>
        <p:nvPicPr>
          <p:cNvPr id="13" name="Image 1" descr="/home/claude/work/assets/icons/FaTab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787" y="1928104"/>
            <a:ext cx="419527" cy="41952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58368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نقرأ الصفوف والأعمدة قبل قراءة الألوان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222492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47938" y="4382719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pic>
        <p:nvPicPr>
          <p:cNvPr id="17" name="Image 2" descr="/home/claude/work/assets/icons/FaExclamationTriang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1639" y="4456420"/>
            <a:ext cx="419527" cy="41952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32220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نلتقط خانة الخطأ التي نريد تقليلها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548640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974086" y="4382719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pic>
        <p:nvPicPr>
          <p:cNvPr id="21" name="Image 3" descr="/home/claude/work/assets/icons/FaProjectDiagra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7787" y="4456420"/>
            <a:ext cx="419527" cy="41952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58368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نستخدم الرسم في عرض المشروع النهائي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CBD4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تقييم الانحدار: الفارق بالدقائق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124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22492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47938" y="1854403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pic>
        <p:nvPicPr>
          <p:cNvPr id="9" name="Image 0" descr="/home/claude/work/assets/icons/FaCheck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1639" y="1928104"/>
            <a:ext cx="419527" cy="41952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332220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في الانحدار لا نسأل «صحيح أم خطأ» فقط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974086" y="1854403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pic>
        <p:nvPicPr>
          <p:cNvPr id="13" name="Image 1" descr="/home/claude/work/assets/icons/FaQues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787" y="1928104"/>
            <a:ext cx="419527" cy="41952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58368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نسأل: كم ابتعد التوقع عن الرقم الحقيقي؟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222492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47938" y="4382719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pic>
        <p:nvPicPr>
          <p:cNvPr id="17" name="Image 2" descr="/home/claude/work/assets/icons/FaC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1639" y="4456420"/>
            <a:ext cx="419527" cy="41952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32220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توقع 35 دقيقة وواقع 42 دقيقة يعني فرق 7 دقائق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548640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974086" y="4382719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pic>
        <p:nvPicPr>
          <p:cNvPr id="21" name="Image 3" descr="/home/claude/work/assets/icons/FaRulerCombin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7787" y="4456420"/>
            <a:ext cx="419527" cy="41952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58368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المقياس يجب أن يعبر عن خطأ يفهمه مستخدم النتيجة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CBD4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متوسط الخطأ المطلق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125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22492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47938" y="1854403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pic>
        <p:nvPicPr>
          <p:cNvPr id="9" name="Image 0" descr="/home/claude/work/assets/icons/FaExclamationTriang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1639" y="1928104"/>
            <a:ext cx="419527" cy="41952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332220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متوسط الخطأ المطلق (Mean Absolute Error) هو متوسط حجم الفارق دون إشارة موجبة أو سالبة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974086" y="1854403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pic>
        <p:nvPicPr>
          <p:cNvPr id="13" name="Image 1" descr="/home/claude/work/assets/icons/FaMicrochi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787" y="1928104"/>
            <a:ext cx="419527" cy="41952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58368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إذا كان MAE = 6، فالنموذج يبتعد في المتوسط ست دقائق تقريبًا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222492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47938" y="4382719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8647938" y="4382719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6332220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كلما انخفض كان أفضل عادة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548640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2974086" y="4382719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pic>
        <p:nvPicPr>
          <p:cNvPr id="21" name="Image 2" descr="/home/claude/work/assets/icons/FaBullsey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787" y="4456420"/>
            <a:ext cx="419527" cy="419527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58368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وحدة المقياس هي نفس وحدة الهدف: دقائق هنا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CBD4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معامل التحديد R²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126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22492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47938" y="1854403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pic>
        <p:nvPicPr>
          <p:cNvPr id="9" name="Image 0" descr="/home/claude/work/assets/icons/Fa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1639" y="1928104"/>
            <a:ext cx="419527" cy="41952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332220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معامل التحديد (R²) يصف مقدارًا من تغير الهدف يلتقطه النموذج مقارنة بتخمين بسيط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974086" y="1854403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pic>
        <p:nvPicPr>
          <p:cNvPr id="13" name="Image 1" descr="/home/claude/work/assets/icons/FaBalanceSca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787" y="1928104"/>
            <a:ext cx="419527" cy="41952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58368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قيمة أعلى تعني ملاءمة أفضل في هذه المقارنة غالبًا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222492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47938" y="4382719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8647938" y="4382719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6332220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لا يشرح عدد الدقائق التي نخطئها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548640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2974086" y="4382719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2974086" y="4382719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658368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نقرأه بجانب MAE وليس بدلًا عنه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CBD4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كود تقييم الانحدار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127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113776" y="1463040"/>
            <a:ext cx="3526536" cy="4800600"/>
          </a:xfrm>
          <a:prstGeom prst="roundRect">
            <a:avLst>
              <a:gd name="adj" fmla="val 2593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593580" y="1854403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593580" y="1854403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3504" y="2494483"/>
            <a:ext cx="3307080" cy="3732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شغّل المقاييس بعد أن تحصل على `minute_predictions`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331208" y="1463040"/>
            <a:ext cx="3526536" cy="4800600"/>
          </a:xfrm>
          <a:prstGeom prst="roundRect">
            <a:avLst>
              <a:gd name="adj" fmla="val 2593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811012" y="1854403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811012" y="1854403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440936" y="2494483"/>
            <a:ext cx="3307080" cy="3732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اقرأ MAE بالدقائق أولًا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1463040"/>
            <a:ext cx="3526536" cy="4800600"/>
          </a:xfrm>
          <a:prstGeom prst="roundRect">
            <a:avLst>
              <a:gd name="adj" fmla="val 2593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028444" y="1854403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pic>
        <p:nvPicPr>
          <p:cNvPr id="17" name="Image 0" descr="/home/claude/work/assets/icons/FaRulerCombin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2145" y="1928104"/>
            <a:ext cx="419527" cy="419527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658368" y="2494483"/>
            <a:ext cx="3307080" cy="3732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قارن نماذج الانحدار على التقسيم والمقياس نفسيهما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CBD4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رسم الواقع مقابل التوقع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128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22492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47938" y="1854403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pic>
        <p:nvPicPr>
          <p:cNvPr id="9" name="Image 0" descr="/home/claude/work/assets/icons/FaFlas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1639" y="1928104"/>
            <a:ext cx="419527" cy="41952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332220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كل نقطة تمثل حالة اختبار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974086" y="1854403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2974086" y="1854403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58368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إذا اقتربت النقاط من القطر، تكون التوقعات قريبة من الواقع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222492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647938" y="4382719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647938" y="4382719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6332220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النقاط البعيدة تستحق الفحص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548640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2974086" y="4382719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2974086" y="4382719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658368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الرسم يكمل MAE ولا يستبدله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CBD4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مقارنة عادلة: قواعد لا نتجاوزها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129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63640" y="1508760"/>
            <a:ext cx="5376672" cy="4617720"/>
          </a:xfrm>
          <a:prstGeom prst="roundRect">
            <a:avLst>
              <a:gd name="adj" fmla="val 2376"/>
            </a:avLst>
          </a:prstGeom>
          <a:solidFill>
            <a:srgbClr val="FFF7E3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508760"/>
            <a:ext cx="5376672" cy="4617720"/>
          </a:xfrm>
          <a:prstGeom prst="roundRect">
            <a:avLst>
              <a:gd name="adj" fmla="val 2376"/>
            </a:avLst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11137392" y="2196084"/>
            <a:ext cx="164592" cy="164592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37960" y="1508760"/>
            <a:ext cx="4599432" cy="1539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الهدف نفسه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1137392" y="3735324"/>
            <a:ext cx="164592" cy="164592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37960" y="3048000"/>
            <a:ext cx="4599432" cy="1539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الخصائص نفسها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1137392" y="5274564"/>
            <a:ext cx="164592" cy="164592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37960" y="4587240"/>
            <a:ext cx="4599432" cy="1539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خط التجهيز نفسه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22392" y="2196084"/>
            <a:ext cx="164592" cy="164592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1508760"/>
            <a:ext cx="4599432" cy="1539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تقسيم التدريب والاختبار نفسه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22392" y="3735324"/>
            <a:ext cx="164592" cy="164592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3048000"/>
            <a:ext cx="4599432" cy="1539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المقياس نفسه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22392" y="5274564"/>
            <a:ext cx="164592" cy="164592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4587240"/>
            <a:ext cx="4599432" cy="1539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الاختبار النهائي لا نستخدمه كل مرة لتعديل الاختيار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CBD4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لماذا لا يكفي تقسيم واحد؟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130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22492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47938" y="1854403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pic>
        <p:nvPicPr>
          <p:cNvPr id="9" name="Image 0" descr="/home/claude/work/assets/icons/Fa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1639" y="1928104"/>
            <a:ext cx="419527" cy="41952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332220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قد تتغير النتيجة قليلًا إذا تغيرت صفوف التدريب والاختبار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974086" y="1854403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2974086" y="1854403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58368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تقسيم واحد قد يكون محظوظًا أو غير محظوظ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222492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647938" y="4382719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pic>
        <p:nvPicPr>
          <p:cNvPr id="17" name="Image 1" descr="/home/claude/work/assets/icons/FaTab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1639" y="4456420"/>
            <a:ext cx="419527" cy="419527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6332220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نريد مقارنة النماذج على أكثر من جزء من بيانات التدريب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548640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2974086" y="4382719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pic>
        <p:nvPicPr>
          <p:cNvPr id="21" name="Image 2" descr="/home/claude/work/assets/icons/FaFlas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787" y="4456420"/>
            <a:ext cx="419527" cy="419527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58368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نحتفظ بالاختبار النهائي للحكم الأخير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CBD4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التحقق المتقاطع بخمس طيات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131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22492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47938" y="1854403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pic>
        <p:nvPicPr>
          <p:cNvPr id="9" name="Image 0" descr="/home/claude/work/assets/icons/Fa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1639" y="1928104"/>
            <a:ext cx="419527" cy="41952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332220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نقسم بيانات التدريب إلى خمسة أجزاء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974086" y="1854403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pic>
        <p:nvPicPr>
          <p:cNvPr id="13" name="Image 1" descr="/home/claude/work/assets/icons/FaCheck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787" y="1928104"/>
            <a:ext cx="419527" cy="41952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58368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في كل جولة نتحقق على جزء وندرب على الأربعة الأخرى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222492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47938" y="4382719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pic>
        <p:nvPicPr>
          <p:cNvPr id="17" name="Image 2" descr="/home/claude/work/assets/icons/FaCheck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1639" y="4456420"/>
            <a:ext cx="419527" cy="41952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32220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يتبدل الجزء المتحقق منه حتى يأخذ كل جزء دوره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548640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974086" y="4382719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pic>
        <p:nvPicPr>
          <p:cNvPr id="21" name="Image 3" descr="/home/claude/work/assets/icons/FaBalanceSca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7787" y="4456420"/>
            <a:ext cx="419527" cy="41952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58368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نأخذ متوسط النتائج للمقارنة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CBD4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كود التحقق المتقاطع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132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22492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47938" y="1854403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pic>
        <p:nvPicPr>
          <p:cNvPr id="9" name="Image 0" descr="/home/claude/work/assets/icons/FaMicroch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1639" y="1928104"/>
            <a:ext cx="419527" cy="41952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332220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نمرر الخط الكامل، وليس النموذج فقط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974086" y="1854403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pic>
        <p:nvPicPr>
          <p:cNvPr id="13" name="Image 1" descr="/home/claude/work/assets/icons/FaTab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787" y="1928104"/>
            <a:ext cx="419527" cy="41952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58368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نستخدم بيانات التدريب فقط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222492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47938" y="4382719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8647938" y="4382719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6332220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نحدد `cv=5` و`scoring="f1"`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548640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2974086" y="4382719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2974086" y="4382719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658368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نقرأ المتوسط بدل نتيجة طية واحدة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CBD4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الاختبار النهائي يبقى مقفلًا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133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63640" y="1508760"/>
            <a:ext cx="5376672" cy="4617720"/>
          </a:xfrm>
          <a:prstGeom prst="roundRect">
            <a:avLst>
              <a:gd name="adj" fmla="val 2376"/>
            </a:avLst>
          </a:prstGeom>
          <a:solidFill>
            <a:srgbClr val="FFF7E3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508760"/>
            <a:ext cx="5376672" cy="4617720"/>
          </a:xfrm>
          <a:prstGeom prst="roundRect">
            <a:avLst>
              <a:gd name="adj" fmla="val 2376"/>
            </a:avLst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11137392" y="2196084"/>
            <a:ext cx="164592" cy="164592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37960" y="1508760"/>
            <a:ext cx="4599432" cy="1539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نقارن النماذج بالتحقق المتقاطع على التدريب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1137392" y="3735324"/>
            <a:ext cx="164592" cy="164592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37960" y="3048000"/>
            <a:ext cx="4599432" cy="1539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نختار مرشحًا مناسبًا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1137392" y="5274564"/>
            <a:ext cx="164592" cy="164592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37960" y="4587240"/>
            <a:ext cx="4599432" cy="1539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ندربه على كامل التدريب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22392" y="2580894"/>
            <a:ext cx="164592" cy="164592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150876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نقيمه مرة أخيرة على الاختبار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22392" y="4889754"/>
            <a:ext cx="164592" cy="164592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381762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إذا عدلنا مرات كثيرة بعد رؤية الاختبار، يفقد الاختبار قيمته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CBD4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تحليل الأخطاء: من الرقم إلى الصف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134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63640" y="1508760"/>
            <a:ext cx="5376672" cy="4617720"/>
          </a:xfrm>
          <a:prstGeom prst="roundRect">
            <a:avLst>
              <a:gd name="adj" fmla="val 2376"/>
            </a:avLst>
          </a:prstGeom>
          <a:solidFill>
            <a:srgbClr val="FFF7E3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508760"/>
            <a:ext cx="5376672" cy="4617720"/>
          </a:xfrm>
          <a:prstGeom prst="roundRect">
            <a:avLst>
              <a:gd name="adj" fmla="val 2376"/>
            </a:avLst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11137392" y="2580894"/>
            <a:ext cx="164592" cy="164592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37960" y="150876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نحدد الصفوف التي اختلف فيها التوقع عن الحقيقة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1137392" y="4889754"/>
            <a:ext cx="164592" cy="164592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37960" y="381762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ننظر إلى خصائصها: منطقة، وقت، مسافة، نوع عقد…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22392" y="2580894"/>
            <a:ext cx="164592" cy="164592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150876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نسأل هل يظهر نمط متكرر؟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22392" y="4889754"/>
            <a:ext cx="164592" cy="164592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381762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نكتب فرضية ثم نتحقق منها؛ لا نحكم من صف واحد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CBD4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مثال تحليل خطأ في التوصيل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135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63640" y="1508760"/>
            <a:ext cx="5376672" cy="4617720"/>
          </a:xfrm>
          <a:prstGeom prst="roundRect">
            <a:avLst>
              <a:gd name="adj" fmla="val 2376"/>
            </a:avLst>
          </a:prstGeom>
          <a:solidFill>
            <a:srgbClr val="FFF7E3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508760"/>
            <a:ext cx="5376672" cy="4617720"/>
          </a:xfrm>
          <a:prstGeom prst="roundRect">
            <a:avLst>
              <a:gd name="adj" fmla="val 2376"/>
            </a:avLst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11137392" y="2196084"/>
            <a:ext cx="164592" cy="164592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37960" y="1508760"/>
            <a:ext cx="4599432" cy="1539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الحقيقة: طلب متأخر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1137392" y="3735324"/>
            <a:ext cx="164592" cy="164592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37960" y="3048000"/>
            <a:ext cx="4599432" cy="1539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توقع النموذج: في الموعد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1137392" y="5274564"/>
            <a:ext cx="164592" cy="164592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37960" y="4587240"/>
            <a:ext cx="4599432" cy="1539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الخصائص: مسافة بعيدة ووقت مساء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22392" y="2580894"/>
            <a:ext cx="164592" cy="164592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150876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سؤال التحليل: هل تتكرر هذه الحالة في أخطاء أخرى؟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22392" y="4889754"/>
            <a:ext cx="164592" cy="164592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381762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خطوة محتملة: فحص خاصية فترة الطلب أو جودة بيانات المسافة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CBD4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نقص التخصيص وفرط التخصيص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136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63640" y="1508760"/>
            <a:ext cx="5376672" cy="4617720"/>
          </a:xfrm>
          <a:prstGeom prst="roundRect">
            <a:avLst>
              <a:gd name="adj" fmla="val 2376"/>
            </a:avLst>
          </a:prstGeom>
          <a:solidFill>
            <a:srgbClr val="FFF7E3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508760"/>
            <a:ext cx="5376672" cy="4617720"/>
          </a:xfrm>
          <a:prstGeom prst="roundRect">
            <a:avLst>
              <a:gd name="adj" fmla="val 2376"/>
            </a:avLst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11137392" y="2580894"/>
            <a:ext cx="164592" cy="164592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37960" y="150876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نقص التخصيص (Underfitting): ضعيف في التدريب والاختبار؛ النموذج لم يلتقط النمط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1137392" y="4889754"/>
            <a:ext cx="164592" cy="164592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37960" y="381762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ملاءمة مناسبة: نتائج جيدة ومتقاربة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22392" y="2580894"/>
            <a:ext cx="164592" cy="164592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150876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فرط التخصيص (Overfitting): ممتاز في التدريب وأضعف بوضوح في الاختبار؛ حفظ تفاصيل التدريب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22392" y="4889754"/>
            <a:ext cx="164592" cy="164592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381762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نريد نمطًا عامًا، لا حفظًا ولا تبسيطًا زائدًا</a:t>
            </a:r>
            <a:endParaRPr lang="en-US" sz="13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CBD4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منحنيات تعلم مبسطة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137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22492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47938" y="1854403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pic>
        <p:nvPicPr>
          <p:cNvPr id="9" name="Image 0" descr="/home/claude/work/assets/icons/FaMicroch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1639" y="1928104"/>
            <a:ext cx="419527" cy="41952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332220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نتيجة التدريب الجيدة وحدها لا تكفي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974086" y="1854403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pic>
        <p:nvPicPr>
          <p:cNvPr id="13" name="Image 1" descr="/home/claude/work/assets/icons/FaTab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787" y="1928104"/>
            <a:ext cx="419527" cy="41952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58368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نراقب أيضًا نتيجة تحقق على بيانات لم يتعلم منها النموذج في تلك الجولة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222492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47938" y="4382719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8647938" y="4382719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6332220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فجوة كبيرة ومستمرّة قد تعني فرط تخصيص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548640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2974086" y="4382719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2974086" y="4382719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658368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تحسن ضعيف في الاثنين قد يعني نقص تخصيص</a:t>
            </a:r>
            <a:endParaRPr lang="en-US" sz="13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CBD4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مقايضة التحيز والتباين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138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22492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47938" y="1854403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pic>
        <p:nvPicPr>
          <p:cNvPr id="9" name="Image 0" descr="/home/claude/work/assets/icons/FaMicroch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1639" y="1928104"/>
            <a:ext cx="419527" cy="41952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332220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نموذج بسيط جدًا قد يتجاهل نمطًا مهمًا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974086" y="1854403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pic>
        <p:nvPicPr>
          <p:cNvPr id="13" name="Image 1" descr="/home/claude/work/assets/icons/FaMicrochi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787" y="1928104"/>
            <a:ext cx="419527" cy="41952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58368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نموذج مرن جدًا قد يحفظ تفاصيل عشوائية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222492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47938" y="4382719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pic>
        <p:nvPicPr>
          <p:cNvPr id="17" name="Image 2" descr="/home/claude/work/assets/icons/FaTab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1639" y="4456420"/>
            <a:ext cx="419527" cy="41952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32220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مقايضة التحيز والتباين: نبحث عن توازن مناسب للبيانات الجديدة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548640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974086" y="4382719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pic>
        <p:nvPicPr>
          <p:cNvPr id="21" name="Image 3" descr="/home/claude/work/assets/icons/FaBalanceSca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7787" y="4456420"/>
            <a:ext cx="419527" cy="41952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58368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التقييم المتكرر يساعدنا على اختيار التوازن</a:t>
            </a:r>
            <a:endParaRPr lang="en-US" sz="13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CBD4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كيف نتصرف عند ضعف النموذج؟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139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113776" y="1463040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593580" y="1854403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pic>
        <p:nvPicPr>
          <p:cNvPr id="9" name="Image 0" descr="/home/claude/work/assets/icons/FaBulls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67281" y="1928104"/>
            <a:ext cx="419527" cy="41952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223504" y="2494483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راجع صياغة الهدف وتوفر الخصائص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331208" y="1463040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811012" y="1854403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pic>
        <p:nvPicPr>
          <p:cNvPr id="13" name="Image 1" descr="/home/claude/work/assets/icons/FaTab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4713" y="1928104"/>
            <a:ext cx="419527" cy="41952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440936" y="2494483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افحص جودة البيانات والنقص والتسريب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548640" y="1463040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028444" y="1854403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2028444" y="1854403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658368" y="2494483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حلل الأخطاء المتكررة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6222492" y="3991356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702296" y="4382719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pic>
        <p:nvPicPr>
          <p:cNvPr id="21" name="Image 2" descr="/home/claude/work/assets/icons/FaMicrochi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5997" y="4456420"/>
            <a:ext cx="419527" cy="419527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332220" y="5022799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جرّب نموذجًا آخر ضمن مقارنة عادلة</a:t>
            </a:r>
            <a:endParaRPr lang="en-US" sz="1350" dirty="0"/>
          </a:p>
        </p:txBody>
      </p:sp>
      <p:sp>
        <p:nvSpPr>
          <p:cNvPr id="23" name="Shape 18"/>
          <p:cNvSpPr/>
          <p:nvPr/>
        </p:nvSpPr>
        <p:spPr>
          <a:xfrm>
            <a:off x="2439924" y="3991356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3919728" y="4382719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3919728" y="4382719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2549652" y="5022799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لا تضف تعقيدًا قبل فهم المشكلة</a:t>
            </a:r>
            <a:endParaRPr lang="en-US" sz="13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CBD4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شجرة القرار: أسئلة متتابعة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140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22492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47938" y="1854403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pic>
        <p:nvPicPr>
          <p:cNvPr id="9" name="Image 0" descr="/home/claude/work/assets/icons/Fa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1639" y="1928104"/>
            <a:ext cx="419527" cy="41952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332220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شجرة القرار (Decision Tree) تقسم البيانات بأسئلة متتابعة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974086" y="1854403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pic>
        <p:nvPicPr>
          <p:cNvPr id="13" name="Image 1" descr="/home/claude/work/assets/icons/FaQues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787" y="1928104"/>
            <a:ext cx="419527" cy="41952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58368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مثال: هل المسافة أكبر من 8 كم؟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222492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47938" y="4382719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pic>
        <p:nvPicPr>
          <p:cNvPr id="17" name="Image 2" descr="/home/claude/work/assets/icons/FaQues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1639" y="4456420"/>
            <a:ext cx="419527" cy="41952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32220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ثم: هل وقت الطلب مساء؟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548640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974086" y="4382719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pic>
        <p:nvPicPr>
          <p:cNvPr id="21" name="Image 3" descr="/home/claude/work/assets/icons/FaTag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7787" y="4456420"/>
            <a:ext cx="419527" cy="41952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58368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في الورقة النهائية تعطي فئة أو رقمًا</a:t>
            </a:r>
            <a:endParaRPr lang="en-US" sz="13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CBD4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كيف تقسم الشجرة البيانات؟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141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22492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47938" y="1854403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pic>
        <p:nvPicPr>
          <p:cNvPr id="9" name="Image 0" descr="/home/claude/work/assets/icons/FaQue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1639" y="1928104"/>
            <a:ext cx="419527" cy="41952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332220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يبحث النموذج عن سؤال يفصل الحالات بدرجة مفيدة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974086" y="1854403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pic>
        <p:nvPicPr>
          <p:cNvPr id="13" name="Image 1" descr="/home/claude/work/assets/icons/FaQues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787" y="1928104"/>
            <a:ext cx="419527" cy="41952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58368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بعد كل سؤال تصبح المجموعة أصغر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222492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47938" y="4382719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8647938" y="4382719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6332220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تتكرر العملية حتى نصل إلى قرار في ورقة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548640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2974086" y="4382719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2974086" y="4382719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658368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الأسئلة قد تكون عددية أو فئوية بعد التجهيز</a:t>
            </a:r>
            <a:endParaRPr lang="en-US" sz="13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CBD4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عمق الشجرة ولماذا يهم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142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22492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47938" y="1854403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pic>
        <p:nvPicPr>
          <p:cNvPr id="9" name="Image 0" descr="/home/claude/work/assets/icons/FaTre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1639" y="1928104"/>
            <a:ext cx="419527" cy="41952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332220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شجرة ضحلة: أسئلة قليلة؛ قد تفوت نمطًا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974086" y="1854403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pic>
        <p:nvPicPr>
          <p:cNvPr id="13" name="Image 1" descr="/home/claude/work/assets/icons/FaMicrochi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787" y="1928104"/>
            <a:ext cx="419527" cy="41952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58368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شجرة عميقة جدًا: أسئلة كثيرة؛ قد تحفظ تفاصيل التدريب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222492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47938" y="4382719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pic>
        <p:nvPicPr>
          <p:cNvPr id="17" name="Image 2" descr="/home/claude/work/assets/icons/FaTre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1639" y="4456420"/>
            <a:ext cx="419527" cy="41952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32220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`max_depth` يحد عدد طبقات الشجرة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548640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974086" y="4382719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pic>
        <p:nvPicPr>
          <p:cNvPr id="21" name="Image 3" descr="/home/claude/work/assets/icons/FaRulerCombin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7787" y="4456420"/>
            <a:ext cx="419527" cy="41952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58368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نختار العمق بالقياس لا بالحدس فقط</a:t>
            </a:r>
            <a:endParaRPr lang="en-US" sz="13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CBD4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تدريب شجرة قرار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143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113776" y="1463040"/>
            <a:ext cx="3526536" cy="4800600"/>
          </a:xfrm>
          <a:prstGeom prst="roundRect">
            <a:avLst>
              <a:gd name="adj" fmla="val 2593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593580" y="1854403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pic>
        <p:nvPicPr>
          <p:cNvPr id="9" name="Image 0" descr="/home/claude/work/assets/icons/FaTre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67281" y="1928104"/>
            <a:ext cx="419527" cy="41952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223504" y="2494483"/>
            <a:ext cx="3307080" cy="3732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نضع شجرة القرار بعد خط التجهيز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331208" y="1463040"/>
            <a:ext cx="3526536" cy="4800600"/>
          </a:xfrm>
          <a:prstGeom prst="roundRect">
            <a:avLst>
              <a:gd name="adj" fmla="val 2593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811012" y="1854403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811012" y="1854403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440936" y="2494483"/>
            <a:ext cx="3307080" cy="3732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نحدد عمقًا بسيطًا مبدئيًا حتى لا تكبر بلا حد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48640" y="1463040"/>
            <a:ext cx="3526536" cy="4800600"/>
          </a:xfrm>
          <a:prstGeom prst="roundRect">
            <a:avLst>
              <a:gd name="adj" fmla="val 2593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028444" y="1854403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pic>
        <p:nvPicPr>
          <p:cNvPr id="17" name="Image 1" descr="/home/claude/work/assets/icons/Fa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2145" y="1928104"/>
            <a:ext cx="419527" cy="419527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658368" y="2494483"/>
            <a:ext cx="3307080" cy="3732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نقارنها ولا نفترض أنها الأفضل</a:t>
            </a:r>
            <a:endParaRPr lang="en-US" sz="1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CBD4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الغابة العشوائية: آراء أشجار متعددة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144</a:t>
            </a:r>
            <a:endParaRPr lang="en-US" sz="1000" dirty="0"/>
          </a:p>
        </p:txBody>
      </p:sp>
      <p:pic>
        <p:nvPicPr>
          <p:cNvPr id="7" name="Image 0" descr="/home/claude/work/assets/illustrations/optimized/img_trees_ensemb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251710"/>
            <a:ext cx="5486400" cy="30861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263640" y="141732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i="1" dirty="0">
                <a:solidFill>
                  <a:srgbClr val="55555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شرح Random Forest بتشبيه لجنة واتجاه التصويت.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1109960" y="2476881"/>
            <a:ext cx="292608" cy="292608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109960" y="2476881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263640" y="2148840"/>
            <a:ext cx="4709160" cy="948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الغابة العشوائية (Random Forest) تجمع أشجارًا كثيرة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11109960" y="3425571"/>
            <a:ext cx="292608" cy="292608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1109960" y="3425571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263640" y="3097530"/>
            <a:ext cx="4709160" cy="948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كل شجرة ترى جزءًا مختلفًا قليلًا من البيانات والخصائص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11109960" y="4374261"/>
            <a:ext cx="292608" cy="292608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1109960" y="4374261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263640" y="4046220"/>
            <a:ext cx="4709160" cy="948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في التصنيف نأخذ تصويت الأغلبية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11109960" y="5322951"/>
            <a:ext cx="292608" cy="292608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11109960" y="5322951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263640" y="4994910"/>
            <a:ext cx="4709160" cy="948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في الانحدار نأخذ متوسط التوقعات</a:t>
            </a:r>
            <a:endParaRPr lang="en-US" sz="13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CBD4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إعدادان بسيطان للغابة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145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22492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47938" y="1854403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pic>
        <p:nvPicPr>
          <p:cNvPr id="9" name="Image 0" descr="/home/claude/work/assets/icons/FaTre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1639" y="1928104"/>
            <a:ext cx="419527" cy="41952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332220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`n_estimators`: عدد الأشجار في الغابة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974086" y="1854403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pic>
        <p:nvPicPr>
          <p:cNvPr id="13" name="Image 1" descr="/home/claude/work/assets/icons/FaTre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787" y="1928104"/>
            <a:ext cx="419527" cy="41952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58368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`max_depth`: حد عمق كل شجرة عند الحاجة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222492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47938" y="4382719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pic>
        <p:nvPicPr>
          <p:cNvPr id="17" name="Image 2" descr="/home/claude/work/assets/icons/FaC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1639" y="4456420"/>
            <a:ext cx="419527" cy="41952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32220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أشجار أكثر قد تزيد الوقت لكنها لا تضمن أداء أفضل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548640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974086" y="4382719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pic>
        <p:nvPicPr>
          <p:cNvPr id="21" name="Image 3" descr="/home/claude/work/assets/icons/FaRulerCombin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7787" y="4456420"/>
            <a:ext cx="419527" cy="41952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58368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نثبت التجربة ثم نقارن بالمقياس نفسه</a:t>
            </a:r>
            <a:endParaRPr lang="en-US" sz="13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CBD4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التعزيز المتدرج: تحسين الأخطاء على مراحل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146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 rot="10800000">
            <a:off x="8711946" y="3118104"/>
            <a:ext cx="2178558" cy="256032"/>
          </a:xfrm>
          <a:prstGeom prst="chevron">
            <a:avLst/>
          </a:prstGeom>
          <a:solidFill>
            <a:srgbClr val="D9DEE8"/>
          </a:solidFill>
          <a:ln/>
        </p:spPr>
      </p:sp>
      <p:sp>
        <p:nvSpPr>
          <p:cNvPr id="8" name="Shape 6"/>
          <p:cNvSpPr/>
          <p:nvPr/>
        </p:nvSpPr>
        <p:spPr>
          <a:xfrm>
            <a:off x="9545193" y="2743200"/>
            <a:ext cx="1005840" cy="1005840"/>
          </a:xfrm>
          <a:prstGeom prst="ellipse">
            <a:avLst/>
          </a:prstGeom>
          <a:solidFill>
            <a:srgbClr val="FCBD4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545193" y="2743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8803386" y="3913632"/>
            <a:ext cx="248945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التعزيز المتدرج (Gradient Boosting) يبني نماذ…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 rot="10800000">
            <a:off x="6076188" y="3118104"/>
            <a:ext cx="2178558" cy="256032"/>
          </a:xfrm>
          <a:prstGeom prst="chevron">
            <a:avLst/>
          </a:prstGeom>
          <a:solidFill>
            <a:srgbClr val="D9DEE8"/>
          </a:solidFill>
          <a:ln/>
        </p:spPr>
      </p:sp>
      <p:sp>
        <p:nvSpPr>
          <p:cNvPr id="12" name="Shape 10"/>
          <p:cNvSpPr/>
          <p:nvPr/>
        </p:nvSpPr>
        <p:spPr>
          <a:xfrm>
            <a:off x="6909435" y="2743200"/>
            <a:ext cx="1005840" cy="1005840"/>
          </a:xfrm>
          <a:prstGeom prst="ellipse">
            <a:avLst/>
          </a:prstGeom>
          <a:solidFill>
            <a:srgbClr val="FCBD4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09435" y="2743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167628" y="3913632"/>
            <a:ext cx="248945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كل نموذج جديد يركز على جزء من الأخطاء السابقة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 rot="10800000">
            <a:off x="3440430" y="3118104"/>
            <a:ext cx="2178558" cy="256032"/>
          </a:xfrm>
          <a:prstGeom prst="chevron">
            <a:avLst/>
          </a:prstGeom>
          <a:solidFill>
            <a:srgbClr val="D9DEE8"/>
          </a:solidFill>
          <a:ln/>
        </p:spPr>
      </p:sp>
      <p:sp>
        <p:nvSpPr>
          <p:cNvPr id="16" name="Shape 14"/>
          <p:cNvSpPr/>
          <p:nvPr/>
        </p:nvSpPr>
        <p:spPr>
          <a:xfrm>
            <a:off x="4273677" y="2743200"/>
            <a:ext cx="1005840" cy="1005840"/>
          </a:xfrm>
          <a:prstGeom prst="ellipse">
            <a:avLst/>
          </a:prstGeom>
          <a:solidFill>
            <a:srgbClr val="FCBD4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273677" y="2743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3531870" y="3913632"/>
            <a:ext cx="248945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المسار: توقع أول → أخطاء ظاهرة → تحسين جديد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637919" y="2743200"/>
            <a:ext cx="1005840" cy="1005840"/>
          </a:xfrm>
          <a:prstGeom prst="ellipse">
            <a:avLst/>
          </a:prstGeom>
          <a:solidFill>
            <a:srgbClr val="FCBD4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637919" y="2743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896112" y="3913632"/>
            <a:ext cx="248945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قد يكون قويًا، لكنه يحتاج تقييمًا منظمًا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62356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تقديم فكرة Gradient Boosting بتشبيه مراجعة الحل.</a:t>
            </a:r>
            <a:endParaRPr lang="en-US" sz="13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CBD4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XGBoost في مكانه الصحيح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147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63640" y="1508760"/>
            <a:ext cx="5376672" cy="4617720"/>
          </a:xfrm>
          <a:prstGeom prst="roundRect">
            <a:avLst>
              <a:gd name="adj" fmla="val 2376"/>
            </a:avLst>
          </a:prstGeom>
          <a:solidFill>
            <a:srgbClr val="FFF7E3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508760"/>
            <a:ext cx="5376672" cy="4617720"/>
          </a:xfrm>
          <a:prstGeom prst="roundRect">
            <a:avLst>
              <a:gd name="adj" fmla="val 2376"/>
            </a:avLst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11137392" y="2580894"/>
            <a:ext cx="164592" cy="164592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37960" y="150876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XGBoost يطبق التعزيز المتدرج بكفاءة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1137392" y="4889754"/>
            <a:ext cx="164592" cy="164592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37960" y="381762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نستخدمه للمقارنة مع نموذج مبدئي وغابة عشوائية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22392" y="2580894"/>
            <a:ext cx="164592" cy="164592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150876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لا نطلق عليه «سحريًا»؛ قد يفرط في التخصيص إن استُخدم بلا قياس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22392" y="4889754"/>
            <a:ext cx="164592" cy="164592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381762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نضبط بداية بسيطة ثم نفسر النتيجة</a:t>
            </a:r>
            <a:endParaRPr lang="en-US" sz="13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CBD4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كود نموذج XGBoost مبدئي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148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113776" y="1463040"/>
            <a:ext cx="3526536" cy="4800600"/>
          </a:xfrm>
          <a:prstGeom prst="roundRect">
            <a:avLst>
              <a:gd name="adj" fmla="val 2593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593580" y="1854403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pic>
        <p:nvPicPr>
          <p:cNvPr id="9" name="Image 0" descr="/home/claude/work/assets/icons/FaBulls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67281" y="1928104"/>
            <a:ext cx="419527" cy="41952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223504" y="2494483"/>
            <a:ext cx="3307080" cy="3732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نستخدم هدفًا ثنائيًا 0/1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331208" y="1463040"/>
            <a:ext cx="3526536" cy="4800600"/>
          </a:xfrm>
          <a:prstGeom prst="roundRect">
            <a:avLst>
              <a:gd name="adj" fmla="val 2593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811012" y="1854403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pic>
        <p:nvPicPr>
          <p:cNvPr id="13" name="Image 1" descr="/home/claude/work/assets/icons/FaBalanceSca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4713" y="1928104"/>
            <a:ext cx="419527" cy="41952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440936" y="2494483"/>
            <a:ext cx="3307080" cy="3732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نثبت الإعدادات الأولية لتصبح المقارنة قابلة للإعادة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548640" y="1463040"/>
            <a:ext cx="3526536" cy="4800600"/>
          </a:xfrm>
          <a:prstGeom prst="roundRect">
            <a:avLst>
              <a:gd name="adj" fmla="val 2593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028444" y="1854403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pic>
        <p:nvPicPr>
          <p:cNvPr id="17" name="Image 2" descr="/home/claude/work/assets/icons/FaCalendarAl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145" y="1928104"/>
            <a:ext cx="419527" cy="41952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58368" y="2494483"/>
            <a:ext cx="3307080" cy="3732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لا نبحث عن أفضل إعدادات اليوم؛ نستخدم نقطة بداية معقولة</a:t>
            </a:r>
            <a:endParaRPr lang="en-US" sz="15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CBD4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جدول مقارنة النماذج الشجرية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149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63640" y="1508760"/>
            <a:ext cx="5376672" cy="4617720"/>
          </a:xfrm>
          <a:prstGeom prst="roundRect">
            <a:avLst>
              <a:gd name="adj" fmla="val 2376"/>
            </a:avLst>
          </a:prstGeom>
          <a:solidFill>
            <a:srgbClr val="FFF7E3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508760"/>
            <a:ext cx="5376672" cy="4617720"/>
          </a:xfrm>
          <a:prstGeom prst="roundRect">
            <a:avLst>
              <a:gd name="adj" fmla="val 2376"/>
            </a:avLst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11137392" y="2580894"/>
            <a:ext cx="164592" cy="164592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37960" y="150876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شجرة القرار: سهلة الرسم والتفسير، وقد تفرط في التخصيص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1137392" y="4889754"/>
            <a:ext cx="164592" cy="164592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37960" y="381762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الغابة العشوائية: أكثر استقرارًا عادة، أصعب قليلًا في التفسير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22392" y="2580894"/>
            <a:ext cx="164592" cy="164592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150876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XGBoost: يبني تحسينات متتابعة، يحتاج قياسًا منظمًا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22392" y="4889754"/>
            <a:ext cx="164592" cy="164592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381762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الاختيار النهائي يعتمد على المقياس والأخطاء والسياق</a:t>
            </a:r>
            <a:endParaRPr lang="en-US" sz="13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CBD4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مختبر 4: المهمة والسياق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150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63640" y="1508760"/>
            <a:ext cx="5376672" cy="4617720"/>
          </a:xfrm>
          <a:prstGeom prst="roundRect">
            <a:avLst>
              <a:gd name="adj" fmla="val 2376"/>
            </a:avLst>
          </a:prstGeom>
          <a:solidFill>
            <a:srgbClr val="FFF7E3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508760"/>
            <a:ext cx="5376672" cy="4617720"/>
          </a:xfrm>
          <a:prstGeom prst="roundRect">
            <a:avLst>
              <a:gd name="adj" fmla="val 2376"/>
            </a:avLst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11137392" y="2580894"/>
            <a:ext cx="164592" cy="164592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37960" y="150876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هدف المختبر: مقارنة شجرة قرار وغابة عشوائية وXGBoost لتوقع التأخر ثم تبرير الاختيار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1137392" y="4889754"/>
            <a:ext cx="164592" cy="164592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37960" y="381762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السيناريو أو البيانات: `طلبات_التوصيل.csv`؛ الهدف `late`؛ وخط `preprocessor` من اليوم الثاني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22392" y="2580894"/>
            <a:ext cx="164592" cy="164592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150876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النتيجة المتوقعة: جدول متوسط F1، مصفوفة التباس، وملاحظة واحدة عن خطأ متكرر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22392" y="4889754"/>
            <a:ext cx="164592" cy="164592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381762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المهارات التي يراجعها الطالب: المقاييس، التحقق المتقاطع، الأشجار، تحليل الأخطاء</a:t>
            </a:r>
            <a:endParaRPr lang="en-US" sz="13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CBD4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مختبر 4: خطوات التنفيذ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151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 rot="10800000">
            <a:off x="9590532" y="3118104"/>
            <a:ext cx="1299972" cy="256032"/>
          </a:xfrm>
          <a:prstGeom prst="chevron">
            <a:avLst/>
          </a:prstGeom>
          <a:solidFill>
            <a:srgbClr val="D9DEE8"/>
          </a:solidFill>
          <a:ln/>
        </p:spPr>
      </p:sp>
      <p:sp>
        <p:nvSpPr>
          <p:cNvPr id="8" name="Shape 6"/>
          <p:cNvSpPr/>
          <p:nvPr/>
        </p:nvSpPr>
        <p:spPr>
          <a:xfrm>
            <a:off x="9984486" y="2743200"/>
            <a:ext cx="1005840" cy="1005840"/>
          </a:xfrm>
          <a:prstGeom prst="ellipse">
            <a:avLst/>
          </a:prstGeom>
          <a:solidFill>
            <a:srgbClr val="FCBD4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984486" y="2743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9681972" y="3913632"/>
            <a:ext cx="16108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1. أعد استخدام X_train وy_train و`preprocesso…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 rot="10800000">
            <a:off x="7833360" y="3118104"/>
            <a:ext cx="1299972" cy="256032"/>
          </a:xfrm>
          <a:prstGeom prst="chevron">
            <a:avLst/>
          </a:prstGeom>
          <a:solidFill>
            <a:srgbClr val="D9DEE8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7314" y="2743200"/>
            <a:ext cx="1005840" cy="1005840"/>
          </a:xfrm>
          <a:prstGeom prst="ellipse">
            <a:avLst/>
          </a:prstGeom>
          <a:solidFill>
            <a:srgbClr val="FCBD4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7314" y="2743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7924800" y="3913632"/>
            <a:ext cx="16108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2. أنشئ النماذج الثلاثة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 rot="10800000">
            <a:off x="6076188" y="3118104"/>
            <a:ext cx="1299972" cy="256032"/>
          </a:xfrm>
          <a:prstGeom prst="chevron">
            <a:avLst/>
          </a:prstGeom>
          <a:solidFill>
            <a:srgbClr val="D9DEE8"/>
          </a:solidFill>
          <a:ln/>
        </p:spPr>
      </p:sp>
      <p:sp>
        <p:nvSpPr>
          <p:cNvPr id="16" name="Shape 14"/>
          <p:cNvSpPr/>
          <p:nvPr/>
        </p:nvSpPr>
        <p:spPr>
          <a:xfrm>
            <a:off x="6470142" y="2743200"/>
            <a:ext cx="1005840" cy="1005840"/>
          </a:xfrm>
          <a:prstGeom prst="ellipse">
            <a:avLst/>
          </a:prstGeom>
          <a:solidFill>
            <a:srgbClr val="FCBD4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70142" y="2743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167628" y="3913632"/>
            <a:ext cx="16108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3. ضع كل نموذج في Pipeline نفسه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 rot="10800000">
            <a:off x="4319016" y="3118104"/>
            <a:ext cx="1299972" cy="256032"/>
          </a:xfrm>
          <a:prstGeom prst="chevron">
            <a:avLst/>
          </a:prstGeom>
          <a:solidFill>
            <a:srgbClr val="D9DEE8"/>
          </a:solidFill>
          <a:ln/>
        </p:spPr>
      </p:sp>
      <p:sp>
        <p:nvSpPr>
          <p:cNvPr id="20" name="Shape 18"/>
          <p:cNvSpPr/>
          <p:nvPr/>
        </p:nvSpPr>
        <p:spPr>
          <a:xfrm>
            <a:off x="4712970" y="2743200"/>
            <a:ext cx="1005840" cy="1005840"/>
          </a:xfrm>
          <a:prstGeom prst="ellipse">
            <a:avLst/>
          </a:prstGeom>
          <a:solidFill>
            <a:srgbClr val="FCBD4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12970" y="2743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4410456" y="3913632"/>
            <a:ext cx="16108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4. احسب متوسط F1 بخمس طيات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 rot="10800000">
            <a:off x="2561844" y="3118104"/>
            <a:ext cx="1299972" cy="256032"/>
          </a:xfrm>
          <a:prstGeom prst="chevron">
            <a:avLst/>
          </a:prstGeom>
          <a:solidFill>
            <a:srgbClr val="D9DEE8"/>
          </a:solidFill>
          <a:ln/>
        </p:spPr>
      </p:sp>
      <p:sp>
        <p:nvSpPr>
          <p:cNvPr id="24" name="Shape 22"/>
          <p:cNvSpPr/>
          <p:nvPr/>
        </p:nvSpPr>
        <p:spPr>
          <a:xfrm>
            <a:off x="2955798" y="2743200"/>
            <a:ext cx="1005840" cy="1005840"/>
          </a:xfrm>
          <a:prstGeom prst="ellipse">
            <a:avLst/>
          </a:prstGeom>
          <a:solidFill>
            <a:srgbClr val="FCBD4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955798" y="2743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2653284" y="3913632"/>
            <a:ext cx="16108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5. اختر مرشحًا ودرّبه على التدريب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198626" y="2743200"/>
            <a:ext cx="1005840" cy="1005840"/>
          </a:xfrm>
          <a:prstGeom prst="ellipse">
            <a:avLst/>
          </a:prstGeom>
          <a:solidFill>
            <a:srgbClr val="FCBD4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198626" y="2743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6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896112" y="3913632"/>
            <a:ext cx="16108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6. اعرض مصفوفة الالتباس للاختبار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62356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تقديم مسار تنفيذي منظم للمقارنة والتفسير.</a:t>
            </a:r>
            <a:endParaRPr lang="en-US" sz="13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CBD4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مختبر 4: إنشاء النماذج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152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11091672" cy="4800600"/>
          </a:xfrm>
          <a:prstGeom prst="roundRect">
            <a:avLst>
              <a:gd name="adj" fmla="val 1905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811012" y="1854403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pic>
        <p:nvPicPr>
          <p:cNvPr id="9" name="Image 0" descr="/home/claude/work/assets/icons/Fa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4713" y="1928104"/>
            <a:ext cx="419527" cy="41952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58368" y="2494483"/>
            <a:ext cx="10872216" cy="3732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ما سيكتبه أو يشغله الطالب: قاموس النماذج الثلاثة</a:t>
            </a:r>
            <a:endParaRPr lang="en-US" sz="15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CBD4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مختبر 4: التحقق المتقاطع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153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63640" y="1508760"/>
            <a:ext cx="5376672" cy="4617720"/>
          </a:xfrm>
          <a:prstGeom prst="roundRect">
            <a:avLst>
              <a:gd name="adj" fmla="val 2376"/>
            </a:avLst>
          </a:prstGeom>
          <a:solidFill>
            <a:srgbClr val="FFF7E3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508760"/>
            <a:ext cx="5376672" cy="4617720"/>
          </a:xfrm>
          <a:prstGeom prst="roundRect">
            <a:avLst>
              <a:gd name="adj" fmla="val 2376"/>
            </a:avLst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11137392" y="3735324"/>
            <a:ext cx="164592" cy="164592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37960" y="1508760"/>
            <a:ext cx="4599432" cy="4617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ما سيكتبه أو يشغله الطالب: حلقة تقارن F1 على التدريب فقط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22392" y="3735324"/>
            <a:ext cx="164592" cy="164592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1508760"/>
            <a:ext cx="4599432" cy="4617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دوّن النتيجة في جدول قبل اختيار نموذج</a:t>
            </a:r>
            <a:endParaRPr lang="en-US" sz="13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CBD4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مختبر 4: التقييم وتحليل الخطأ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154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113776" y="1463040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593580" y="1854403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pic>
        <p:nvPicPr>
          <p:cNvPr id="9" name="Image 0" descr="/home/claude/work/assets/icons/FaMicroch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67281" y="1928104"/>
            <a:ext cx="419527" cy="41952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223504" y="2494483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ما سيكتبه أو يشغله الطالب: `fit` للنموذج المختار، ثم `predict` و`ConfusionMatrixDisplay`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331208" y="1463040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811012" y="1854403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pic>
        <p:nvPicPr>
          <p:cNvPr id="13" name="Image 1" descr="/home/claude/work/assets/icons/FaTab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4713" y="1928104"/>
            <a:ext cx="419527" cy="41952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440936" y="2494483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افتح جدولًا يضم الحقيقة والتوقع والخصائص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548640" y="1463040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028444" y="1854403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pic>
        <p:nvPicPr>
          <p:cNvPr id="17" name="Image 2" descr="/home/claude/work/assets/icons/FaTab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145" y="1928104"/>
            <a:ext cx="419527" cy="41952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58368" y="2494483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اختر خمسة صفوف اختلف فيها التوقع عن الحقيقة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8113776" y="3991356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593580" y="4382719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pic>
        <p:nvPicPr>
          <p:cNvPr id="21" name="Image 3" descr="/home/claude/work/assets/icons/FaEy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7281" y="4456420"/>
            <a:ext cx="419527" cy="41952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223504" y="5022799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اكتب ملاحظة مدعومة بما رأيته، مثل تكرار فترة أو مسافة</a:t>
            </a:r>
            <a:endParaRPr lang="en-US" sz="1350" dirty="0"/>
          </a:p>
        </p:txBody>
      </p:sp>
      <p:sp>
        <p:nvSpPr>
          <p:cNvPr id="23" name="Shape 17"/>
          <p:cNvSpPr/>
          <p:nvPr/>
        </p:nvSpPr>
        <p:spPr>
          <a:xfrm>
            <a:off x="4331208" y="3991356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5811012" y="4382719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pic>
        <p:nvPicPr>
          <p:cNvPr id="25" name="Image 4" descr="/home/claude/work/assets/icons/FaTab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4713" y="4456420"/>
            <a:ext cx="419527" cy="419527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440936" y="5022799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النتيجة المتوقعة: اختيار معلل بمقياس F1 ومصفوفة أخطاء</a:t>
            </a:r>
            <a:endParaRPr lang="en-US" sz="1350" dirty="0"/>
          </a:p>
        </p:txBody>
      </p:sp>
      <p:sp>
        <p:nvSpPr>
          <p:cNvPr id="27" name="Shape 20"/>
          <p:cNvSpPr/>
          <p:nvPr/>
        </p:nvSpPr>
        <p:spPr>
          <a:xfrm>
            <a:off x="548640" y="3991356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FFF7E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2028444" y="4382719"/>
            <a:ext cx="566928" cy="566928"/>
          </a:xfrm>
          <a:prstGeom prst="ellipse">
            <a:avLst/>
          </a:prstGeom>
          <a:solidFill>
            <a:srgbClr val="FCBD4C"/>
          </a:solidFill>
          <a:ln/>
        </p:spPr>
      </p:sp>
      <p:pic>
        <p:nvPicPr>
          <p:cNvPr id="29" name="Image 5" descr="/home/claude/work/assets/icons/FaTab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02145" y="4456420"/>
            <a:ext cx="419527" cy="419527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658368" y="5022799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المهارات التي يراجعها الطالب: المقارنة العادلة، F1، المصفوفة، تحليل الأخطاء</a:t>
            </a:r>
            <a:endParaRPr lang="en-US" sz="13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CBD4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ملخص اليوم الرابع وتمهيد المشروع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155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63640" y="1508760"/>
            <a:ext cx="5376672" cy="4617720"/>
          </a:xfrm>
          <a:prstGeom prst="roundRect">
            <a:avLst>
              <a:gd name="adj" fmla="val 2376"/>
            </a:avLst>
          </a:prstGeom>
          <a:solidFill>
            <a:srgbClr val="FFF7E3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508760"/>
            <a:ext cx="5376672" cy="4617720"/>
          </a:xfrm>
          <a:prstGeom prst="roundRect">
            <a:avLst>
              <a:gd name="adj" fmla="val 2376"/>
            </a:avLst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11137392" y="2196084"/>
            <a:ext cx="164592" cy="164592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37960" y="1508760"/>
            <a:ext cx="4599432" cy="1539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المقياس يأتي من أثر الخطأ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1137392" y="3735324"/>
            <a:ext cx="164592" cy="164592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37960" y="3048000"/>
            <a:ext cx="4599432" cy="1539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المصفوفة تجعل نوع الخطأ واضحًا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1137392" y="5274564"/>
            <a:ext cx="164592" cy="164592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37960" y="4587240"/>
            <a:ext cx="4599432" cy="1539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التحقق المتقاطع يقارن على التدريب بعدل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22392" y="2580894"/>
            <a:ext cx="164592" cy="164592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150876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افهم نقص وفرط التخصيص قبل زيادة التعقيد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22392" y="4889754"/>
            <a:ext cx="164592" cy="164592"/>
          </a:xfrm>
          <a:prstGeom prst="ellipse">
            <a:avLst/>
          </a:prstGeom>
          <a:solidFill>
            <a:srgbClr val="FCBD4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381762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غدًا: مشروع كامل ببيانات جديدة وقراراتك المبررة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2026-09-07T22:19:00Z</dcterms:created>
  <dcterms:modified xsi:type="dcterms:W3CDTF">2026-09-07T22:19:00Z</dcterms:modified>
</cp:coreProperties>
</file>