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المشروع لا يختبر الحفظ؛ يختبر قدرتهم على اتباع سير عمل وتبرير قراراتهم.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دع الطلاب يسمون المحطات بصوت واحد. هذا يجعل المشروع امتدادًا للمسار وليس مهمة مجهولة.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وضح أن النموذج أداة مساعدة. لا نستنتج نية العميل أو نعاقبه بناءً على توقع فقط.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تبرير النوع بكلمة «فئة» قبل إظهار الجواب.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رقم الأداء ليس وحده معيار التسليم. المسار والتفسير جزء أساسي من الجودة.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هذه السلايد كمرجع مراجعة لاحق، ولا تحولها إلى قائمة توقعات أداء رقمية.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لكل مجموعة أن تعمل في مراحل متقدمة بسرعات مختلفة، لكن لا تقفز إلى التدريب قبل إكمال المراحل الأربع الأولى.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القائمة بداية للفحص. على الطالب التحقق من أسماء الأعمدة وأنواعها في الملف الفعلي.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 لغة هادئة: هذا ليس درسًا قانونيًا، بل قاعدة عمل مهنية للمبتدئ.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تفسر نتائج غير موجودة بعد. اجعل الطلاب يرون بياناتهم ثم يكتبون الملاحظة.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على المدرب مراجعة هذه الجمل أو مراجعتها بين الزملاء قبل السماح بالانتقال. لا يملأ الحل لجميع المجموعات.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إذا اختلفت مجموعتان في عمود، اطلب من كل مجموعة تفسير وقت توفره، لا فرض قائمة واحدة فورًا.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مرحلة أكثر استقلالية من الأيام السابقة. ساعد بسؤال تشخيصي لا بإعطاء كود الحل مباشرة.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المجموعات ألا تكتب نموذجًا في هذه المرحلة. اشرح أن هذه ليست إضاعة وقت بل وقاية من أخطاء تصميم لاحقة.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ذكرهم أن المخطط يصف الهدف فقط. لا يستنتجون منه أداء النموذج أو سبب المغادرة.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تراجع كل سطر كود لكل مجموعة. راجع قرارًا واحدًا عن الخصائص وسؤالًا واحدًا عن الهدف.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أن يشرحوا معنى stratify بجملة: «نحاول أن يبقى التوزيع مشابهًا».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دع الطلاب ينفذون الخلية ثم يؤكدون أن عدد صفوف X_train يطابق عدد صفوف y_train.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كل مجموعة أن تعرض قائمة الأعمدة قبل تشغيل الكود. تحقق من الأعمدة المستبعدة.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نقاط الحذف `...` مقصودة لتكملها المجموعة، وليست كودًا صالحًا للتشغيل كما هي.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اسأل المجموعة: لماذا F1 وليس الدقة وحدها؟ ارجع إلى احتمال عدم توازن حالات المغادرة.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تعدل الإعدادات في هذا المشروع إلا بعد اكتمال المقارنة الأساسية. الهدف هو سير عمل صحيح.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تعرض الحلقة الكاملة في البداية. وجّه الطلاب إلى مثال اليوم الرابع إذا احتاجوا، ثم امنح الحل المرجعي بعد محاولة فعلية.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نسخ جدول النتائج إلى خلية نصية أو الاحتفاظ به ظاهرًا لعرض المشروع.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ذكّر أن الفروق الصغيرة جدًا قد تحتاج قراءة أعمق؛ لا تبالغ في معنى فارق بسيط من ثلاث خانات عشرية.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تسمح بتعديل النموذج مرارًا لمجرد أن اختبار F1 لم يعجبهم. دوّن الملاحظة كقيد أو تحسين لاحق.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ذكرهم بأن نسخ X_test يحافظ على جدول الخصائص. لا يحوّل الملاحظة من خمسة صفوف إلى «سبب» عام.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تدفعهم إلى رسم لا يفهمونه. رسم توزيع الهدف من بداية المختبر كافٍ إن كان واضحًا ومعللًا.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كل مجموعة استبدال الفراغ في الجملة الثالثة بملاحظة من جدول الأخطاء، لا نص عام.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دور المدرب هنا هو إزالة العوائق ومنع التسريب، لا كتابة المشروع بدل المجموعة.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إعادة تشغيل النواة وتشغيل الكل إن سمح الوقت؛ هذا يكشف الاعتماد على متغيرات قديمة.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اجعل التعليق محددًا: «لم أجد سبب استبعاد هذا العمود» أفضل من «المشروع غير واضح».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اضبط الوقت بلطف. امدح الدقة في التعبير وذكر القيود أكثر من التباهي برقم مجرد.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استخدمها للتغذية الراجعة السريعة. تجنب تعليق عام مثل «ممتاز» من دون مثال.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قل إن «المزيد من التعقيد» ليس دائمًا الخطوة التالية الصحيحة.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الطلاب إعادة كتابة ادعاء مبالغ فيه إلى عبارة دقيقة؛ هذه مهارة تواصل مهمة.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اقرأ الجدول ببطء كي يرى الطالب أن المشروع جمع المهارات التي بدت منفصلة في البداية.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أكد أن مهارة اختيار الأدوات حسب المهمة أهم من حفظ جميع واجهاتها.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تطلب من الطالب تنفيذ مشروع ضخم. الهدف أول تجربة مستقلة ذات نطاق محدود.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بأن تعلم الآلة ممارسة تكرارية: كل مشروع جيد يولّد سؤالًا أفضل للمشروع الذي يليه.
---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قدّم شكرًا محددًا على التجربة والمثابرة. اطلب من الطلاب كتابة سؤال واحد يريدون استكشافه في مشروعهم التالي.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3.png"/><Relationship Id="rId5" Type="http://schemas.openxmlformats.org/officeDocument/2006/relationships/image" Target="../media/image-5-3.png"/><Relationship Id="rId6" Type="http://schemas.openxmlformats.org/officeDocument/2006/relationships/image" Target="../media/image-5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1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1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1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1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1.png"/><Relationship Id="rId3" Type="http://schemas.openxmlformats.org/officeDocument/2006/relationships/image" Target="../media/image-31-1.png"/><Relationship Id="rId4" Type="http://schemas.openxmlformats.org/officeDocument/2006/relationships/image" Target="../media/image-31-1.png"/><Relationship Id="rId5" Type="http://schemas.openxmlformats.org/officeDocument/2006/relationships/image" Target="../media/image-31-1.png"/><Relationship Id="rId6" Type="http://schemas.openxmlformats.org/officeDocument/2006/relationships/image" Target="../media/image-31-1.png"/><Relationship Id="rId7" Type="http://schemas.openxmlformats.org/officeDocument/2006/relationships/image" Target="../media/image-31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2.png"/><Relationship Id="rId5" Type="http://schemas.openxmlformats.org/officeDocument/2006/relationships/image" Target="../media/image-33-5.png"/><Relationship Id="rId6" Type="http://schemas.openxmlformats.org/officeDocument/2006/relationships/image" Target="../media/image-33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1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1.png"/><Relationship Id="rId4" Type="http://schemas.openxmlformats.org/officeDocument/2006/relationships/image" Target="../media/image-3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أهداف اليوم الخامس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156</a:t>
            </a:r>
            <a:endParaRPr lang="en-US" sz="1000" dirty="0"/>
          </a:p>
        </p:txBody>
      </p:sp>
      <p:pic>
        <p:nvPicPr>
          <p:cNvPr id="7" name="Image 0" descr="/home/claude/work/assets/illustrations/optimized/img_progress_gri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51710"/>
            <a:ext cx="5486400" cy="30861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إنجاز اليوم بوصفه مشروعًا كاملًا يربط ما سبق.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11109960" y="2318766"/>
            <a:ext cx="292608" cy="29260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109960" y="23187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214884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أصيغ مشكلة مشروع وقرارًا واضحًا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1109960" y="2951226"/>
            <a:ext cx="292608" cy="29260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109960" y="295122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278130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أفحص بيانات جديدة وأحدد الخصائص والهدف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109960" y="3583686"/>
            <a:ext cx="292608" cy="29260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109960" y="358368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341376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أبني خط معالجة وأقارن نماذج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1109960" y="4216146"/>
            <a:ext cx="292608" cy="29260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1109960" y="421614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04622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أقيّم النموذج المختار وأحلل أخطاءه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11109960" y="4848606"/>
            <a:ext cx="292608" cy="29260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1109960" y="484860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263640" y="467868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أعرض نتيجة تقنية بلغة عمل مفهومة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1109960" y="5481066"/>
            <a:ext cx="292608" cy="29260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11109960" y="548106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263640" y="5311140"/>
            <a:ext cx="4709160" cy="63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spAutoFit/>
          </a:bodyPr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أسلّم دفترًا منظمًا يعمل من بدايته إلى نهايته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استرجاع الرحلة قبل المشروع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590532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98448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8448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8197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سؤال واضح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833360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7314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7314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24800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بيانات مفهومة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6076188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0142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014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67628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خصائص وتجهيز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319016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2970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297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10456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تدريب وتوقع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2561844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4" name="Shape 22"/>
          <p:cNvSpPr/>
          <p:nvPr/>
        </p:nvSpPr>
        <p:spPr>
          <a:xfrm>
            <a:off x="2955798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5579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653284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تقييم وتحليل أخطاء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9862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9862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خلاصة وتوصية مسؤولة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إعادة ربط أجزاء الدورة بالترتيب الذي سيستخدمه الطالب.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قصة المشروع: مغادرة العملاء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UserFrie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شركة خدمة اشتراكات تريد ترتيب العملاء الذين يحتاجون متابعة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السؤال: «هل سيغادر هذا العميل الخدمة في الفترة القادمة؟»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UserFrie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وحدة التنبؤ: عميل واحد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استخدام النتيجة: مساعدة فريق الخدمة على ترتيب المتابعة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Microchi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لا يتخذ قرارًا تلقائيًا ضد العميل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المشروع ونوعه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159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الهدف: `left_service`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سيغادر = 1، سيبقى = 0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نوع المهمة: تصنيف ثنائي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لأن المخرج فئة، لا رقمًا ذا مقدار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سنتوقع من معلومات متاحة قبل قرار المتابعة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التسليم النهائي؟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دفتر `final_project_churn.ipynb` مرتب بعناوين واضحة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تعريف للمشكلة والهدف والخصائص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فحص بيانات وخط معالجة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13776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93580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281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3504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جدول مقارنة لثلاثة نماذج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331208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Tab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713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40936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مصفوفة التباس ورسم واحد من Matplotlib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48640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028444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9" name="Image 5" descr="/home/claude/work/assets/icons/FaBullsey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145" y="4456420"/>
            <a:ext cx="419527" cy="4195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58368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ثلاث جمل خلاصة صادقة ومدعومة بالنتائج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معيار نجاح المشروع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المشكلة محددة والهدف صحيح؟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استبعدت الهدف والمعرّفات ومعلومات المستقبل من الخصائص؟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استخدمت خط معالجة للأرقام والفئات؟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13776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93580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281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3504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كانت المقارنة على تدريب ومقياس متشابهين؟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331208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713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40936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فسرت مصفوفة الالتباس وخطأ واحدًا على الأقل؟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48640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028444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9" name="Image 5" descr="/home/claude/work/assets/icons/Fa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145" y="4456420"/>
            <a:ext cx="419527" cy="4195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58368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خلاصة العرض دقيقة ولا تعد بضمان؟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خريطة عمل المشروع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62617" y="1799173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8368" y="1854924"/>
            <a:ext cx="317352" cy="31735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301179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اقرأ البيانات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80049" y="1799173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80049" y="1799173"/>
            <a:ext cx="428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40936" y="2301179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صغ المشكلة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97481" y="1799173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1" descr="/home/claude/work/assets/icons/FaBalanceSca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232" y="1854924"/>
            <a:ext cx="317352" cy="31735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301179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افحص الأنواع والنقص والتوازن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13776" y="3148584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662617" y="3484717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Bulls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368" y="3540468"/>
            <a:ext cx="317352" cy="31735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23504" y="3986723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حدد الخصائص والهدف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331208" y="3148584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880049" y="3484717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800" y="3540468"/>
            <a:ext cx="317352" cy="31735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440936" y="3986723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قسّم البيانات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548640" y="3148584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2097481" y="3484717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2097481" y="3484717"/>
            <a:ext cx="428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58368" y="3986723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6. ابنِ خط المعالجة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8113776" y="4834128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662617" y="5170261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9662617" y="5170261"/>
            <a:ext cx="428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28"/>
          <p:cNvSpPr txBox="1"/>
          <p:nvPr/>
        </p:nvSpPr>
        <p:spPr>
          <a:xfrm>
            <a:off x="8223504" y="5672267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7. قارن النماذج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4331208" y="4834128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880049" y="5170261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5880049" y="5170261"/>
            <a:ext cx="428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</a:t>
            </a:r>
            <a:endParaRPr lang="en-US" sz="1300" dirty="0"/>
          </a:p>
        </p:txBody>
      </p:sp>
      <p:sp>
        <p:nvSpPr>
          <p:cNvPr id="38" name="Text 32"/>
          <p:cNvSpPr txBox="1"/>
          <p:nvPr/>
        </p:nvSpPr>
        <p:spPr>
          <a:xfrm>
            <a:off x="4440936" y="5672267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8. قيّم وحلل الأخطاء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548640" y="4834128"/>
            <a:ext cx="3526536" cy="1429512"/>
          </a:xfrm>
          <a:prstGeom prst="roundRect">
            <a:avLst>
              <a:gd name="adj" fmla="val 6397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2097481" y="5170261"/>
            <a:ext cx="428854" cy="428854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2097481" y="5170261"/>
            <a:ext cx="4288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658368" y="5672267"/>
            <a:ext cx="3307080" cy="554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9. اكتب الخلاصة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بطاقة بيانات المشروع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00367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الملف: `telecom_churn.csv`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15810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66319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`tenure_months`: مدة الاشتراك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431253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81762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`monthly_fee`: الرسوم الشهرية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137392" y="546696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497205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`support_calls`: اتصالات الدعم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`data_usage_gb`: استخدام البيانات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22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`contract_type` و`payment_method`: فئات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22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`left_service`: الهدف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البيانات ليست كل الحقيقة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البيانات تصف ما جُمع، لا كل ما نعرفه عن العميل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نستخدم خصائص حساسة أو غير مبررة لمجرد أنها موجودة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التوقع يساعد على ترتيب متابعة إنسانية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نراجع الأخطاء قبل اتخاذ قرار ذي أثر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ابدأ بالكود: اقرأ وافحص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اقرأ الملف ثم انظر إلى أول الصفوف قبل أن تختار نموذجًا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نفذ `info()` و`isna().sum()` وفحص توازن الهدف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461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ملاحظة قصيرة عن أول شيء لاحظته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صياغة المشكلة قبل متابعة الكود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59418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66401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66401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69146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أكمل في خلية نصية: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22492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9475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9475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32220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نريد توقع: …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85566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92549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92549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495294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وحدة التنبؤ: …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555623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324" y="1928104"/>
            <a:ext cx="419527" cy="41952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8368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القرار الذي يدعمه النموذج: …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640955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7750683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الهدف: …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4804029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5811012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4913757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المعلومات المتاحة قبل القرار: …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1967103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33" name="Image 2" descr="/home/claude/work/assets/icons/FaT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2076831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نوع المهمة لأن الناتج: …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قرار الخصائص: ما الذي يدخل X؟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أدخل خصائص متاحة وقت التوقع ومرتبطة منطقيًا بالسؤال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Bulls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استبعد `left_service` لأنه الهدف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استبعد المعرّف إن وجد لأنه للتتبع غالبًا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UserFriend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استبعد أي معلومة جُمعت بعد مغادرة العميل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391972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وثّق الأعمدة المستبعدة وسببًا واحدًا لكل قرار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المرحلة الأولى — المهمة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239098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808769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08769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330538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هدف المختبر: بناء مشروع تصنيف متكامل لتوقع مغ…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130491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00162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0016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221931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طريقة العمل: مجموعات من 2–3 طلاب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5021885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559155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9155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113325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المرحلة الأولى: فهم البيانات، صياغة المشكلة، …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2913278" y="3118104"/>
            <a:ext cx="1651406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3482950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8295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004718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الزمن المقترح: 25 دقيقة ثم نقطة مراجعة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4343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74343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3913632"/>
            <a:ext cx="196230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الناتج: خلية نصية مكتملة وملف بيانات مفحوص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بدء المشروع بصورة منظّمة مع زمن ومسؤوليات واضحة.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خطوات المرحلة الأولى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169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590532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98448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8448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8197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افتح `final_project_churn.ipynb`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833360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7314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7314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24800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اقرأ الملف وشغّل الفحص الأولي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6076188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0142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014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67628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حدّد الصف ووحدة التنبؤ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319016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2970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297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10456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اكتب صياغة المشكلة في خلية نصية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2561844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4" name="Shape 22"/>
          <p:cNvSpPr/>
          <p:nvPr/>
        </p:nvSpPr>
        <p:spPr>
          <a:xfrm>
            <a:off x="2955798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5579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653284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حدّد الهدف ونوع المهمة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9862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9862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6. أنشئ قائمة أولية بالأعمدة العددية والفئوية…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توفير تسلسل محدد للاستكشاف والصياغة.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تقسيم X وy ورسم التوازن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 فصل الهدف عن الخصائص، ثم رسم توزيع الهدف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اقرأ الرسم: هل توجد فئة أقل ظهورًا؟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4800600"/>
          </a:xfrm>
          <a:prstGeom prst="roundRect">
            <a:avLst>
              <a:gd name="adj" fmla="val 2593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ملاحظة من سطر واحد تحت الرسم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نقطة مراجعة أولى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فهم أولي للملف وخطة خصائص مكتوبة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راجع قبل الانتقال: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الهدف خارج X؟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8113776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593580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281" y="4456420"/>
            <a:ext cx="419527" cy="419527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223504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نوع المهمة تصنيف؟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331208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713" y="4456420"/>
            <a:ext cx="419527" cy="41952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4440936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كتبت سبب استبعاد عمود واحد على الأقل؟</a:t>
            </a:r>
            <a:endParaRPr lang="en-US" sz="1350" dirty="0"/>
          </a:p>
        </p:txBody>
      </p:sp>
      <p:sp>
        <p:nvSpPr>
          <p:cNvPr id="27" name="Shape 22"/>
          <p:cNvSpPr/>
          <p:nvPr/>
        </p:nvSpPr>
        <p:spPr>
          <a:xfrm>
            <a:off x="548640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028444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9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145" y="4456420"/>
            <a:ext cx="419527" cy="419527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58368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تعرف أي فئة من الهدف أقل ظهورًا؟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تقسيم بيانات المشروع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47938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نقسم قبل أن نتعلم التعويض أو التحجيم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74086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نستخدم `stratify=y` للمحافظة على توزيع حالات المغادرة تقريبًا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نثبت التقسيم بـ `random_state=42`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0" descr="/home/claude/work/assets/icons/FaFl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نحتفظ بالاختبار للفحص النهائي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كود التقسيم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تصميم خط المعالجة للمشروع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المسار العددي: وسيط ثم تحجيم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المسار الفئوي: الأكثر تكرارًا ثم ترميز أحادي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القوائم من بياناتك الفعلية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Bulls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يدخل الهدف إلى `preprocessor`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استخدم المسارين نفسيهما مع جميع النماذج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كود خط المعالجة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 استبدال القائمتين بأسماء أعمدة الملف الفعلي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خطة النماذج قبل المقارنة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النموذج المبدئي: الانحدار اللوجستي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للمقارنة: الغابة العشوائية وXGBoost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Microc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المقياس: متوسط F1 بخمس طيات على التدريب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الفحص النهائي: مصفوفة الالتباس على الاختبار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BalanceSca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الاختيار: رقم المقارنة + شكل الأخطاء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تعريف النماذج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اكتب حلقة المقارنة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المطلوب: مرّ على كل نموذج في `models`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أنشئ Pipeline يحتوي `preprocessor` ثم النموذج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استخدم `cross_val_score` على X_train وy_train فقط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احفظ اسم النموذج ومتوسط F1 في قائمة أو DataFrame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رتّب الجدول من الأعلى إلى الأقل قبل الاختيار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مرجع حلقة المقارنة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179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91672" cy="4800600"/>
          </a:xfrm>
          <a:prstGeom prst="roundRect">
            <a:avLst>
              <a:gd name="adj" fmla="val 1905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494483"/>
            <a:ext cx="10872216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استخدم هذا المرجع بعد محاولة كتابة الحلقة أو عند توجيه المدرب: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اختيار المرشح للاختبار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Micro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اختر نموذجًا بناءً على متوسط F1 في التدريب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تفتح الاختبار لكل نموذج لمجرد الفضول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احتفظ بسبب الاختيار في جملة قصيرة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BalanceSca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مثال صياغة: «اخترنا … لأنه حقق متوسط F1 الأعلى في المقارنة الأولية»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التقييم النهائي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4800600"/>
          </a:xfrm>
          <a:prstGeom prst="roundRect">
            <a:avLst>
              <a:gd name="adj" fmla="val 1905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ما سيكتبه أو يشغله الطالب: `fit` على التدريب، `predict` على الاختبار، ثم F1 والمصفوفة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4800600"/>
          </a:xfrm>
          <a:prstGeom prst="roundRect">
            <a:avLst>
              <a:gd name="adj" fmla="val 1905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373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تحت المصفوفة: ما الخانة التي نريد مراقبتها أكثر؟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تحليل أخطاء المشروع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أنشئ جدولًا يجمع الخصائص والحقيقة والتوقع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فلتر الصفوف التي اختلف فيها التوقع عن الحقيقة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اعرض خمسة صفوف فقط في البداية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ابحث عن تكرار حذر: نوع عقد، مدة اشتراك، اتصالات دعم…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ملاحظة قابلة للمراجعة وليست ادعاء سببيًا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رسم داعم واحد في المشروع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اختر رسمًا واحدًا يجيب عن سؤال: هل الهدف متوازن؟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أو: كيف تتوزع مدة الاشتراك حسب حالة المغادرة؟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47938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ضع عنوانًا ومحوري تسمية بالعربية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تحت الرسم ملاحظة واحدة مما تراه فقط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من النتائج إلى خلاصة عمل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الجملة 1: «بنينا نموذجًا يتوقع احتمال مغادرة العميل من معلومات الاشتراك والخدمة المتاحة.»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الجملة 2: «قارنّا ثلاثة نماذج باستخدام F1 والتحقق المتقاطع، ثم فحصنا النموذج المختار على بيانات لم يرها.»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الجملة 3: «لاحظنا أن بعض الأخطاء تتكرر في …، لذلك نوصي بمراجعة هذه الحالات قبل الاعتماد على التوقع.»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تقل: «النموذج يضمن» أو «النموذج يعرف سبب المغادرة»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المرحلة الثانية — قائمة الإكمال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59418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66401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66401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69146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1. أكمل خط المعالجة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22492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229475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9475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32220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2. عرّف النماذج الثلاثة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385566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92549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0" descr="/home/claude/work/assets/icons/FaBalance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6250" y="1928104"/>
            <a:ext cx="419527" cy="419527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3495294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3. اكتب وشغّل حلقة المقارنة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555623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555623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4. اختر مرشحًا بسبب واضح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059418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10066401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1" descr="/home/claude/work/assets/icons/FaFl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102" y="4456420"/>
            <a:ext cx="419527" cy="419527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169146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5. قيّمه على الاختبار مرة واحدة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6222492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229475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229475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1300" dirty="0"/>
          </a:p>
        </p:txBody>
      </p:sp>
      <p:sp>
        <p:nvSpPr>
          <p:cNvPr id="30" name="Text 26"/>
          <p:cNvSpPr txBox="1"/>
          <p:nvPr/>
        </p:nvSpPr>
        <p:spPr>
          <a:xfrm>
            <a:off x="6332220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6. حلل خمسة أخطاء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3385566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392549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4392549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0"/>
          <p:cNvSpPr txBox="1"/>
          <p:nvPr/>
        </p:nvSpPr>
        <p:spPr>
          <a:xfrm>
            <a:off x="3495294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7. اكتب الخلاصة وأضف الرسم</a:t>
            </a:r>
            <a:endParaRPr lang="en-US" sz="1350" dirty="0"/>
          </a:p>
        </p:txBody>
      </p:sp>
      <p:sp>
        <p:nvSpPr>
          <p:cNvPr id="35" name="Shape 31"/>
          <p:cNvSpPr/>
          <p:nvPr/>
        </p:nvSpPr>
        <p:spPr>
          <a:xfrm>
            <a:off x="548640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1555623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37" name="Image 2" descr="/home/claude/work/assets/icons/Fa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324" y="4456420"/>
            <a:ext cx="419527" cy="419527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658368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النتيجة المتوقعة: دفتر كامل قابل لإعادة التشغيل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مختبر 5: المراجعة الذاتية قبل التسليم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059418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66401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102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69146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يمكن تشغيل الدفتر من أول خلية إلى آخرها؟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22492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229475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176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332220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عناوين الدفتر تشرح ما يحدث؟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3385566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392549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250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495294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الهدف خارج الخصائص؟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1463040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555623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Ques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9324" y="1928104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8368" y="2494483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المقارنة تمت على التدريب فقط؟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640955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Ques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750683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المصفوفة على الاختبار؟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804029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9" name="Image 5" descr="/home/claude/work/assets/icons/FaQues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4713" y="4456420"/>
            <a:ext cx="419527" cy="4195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913757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توجد ملاحظة عن خطأ مبنية على صفوف حقيقية؟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1967103" y="3991356"/>
            <a:ext cx="2580894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33" name="Image 6" descr="/home/claude/work/assets/icons/FaQues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787" y="4456420"/>
            <a:ext cx="419527" cy="419527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2076831" y="5022799"/>
            <a:ext cx="2361438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هل الخلاصة لا تتجاوز ما تسمح به النتائج؟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مراجعة الزملاء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2492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47938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639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332220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بدّل الدفتر مع مجموعة أخرى لمدة خمس دقائق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1463040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74086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87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368" y="2494483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المراجع يجيب: ما المشكلة؟ ما الهدف؟ ما المقياس؟ ما النموذج المختار؟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22492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4793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639" y="4456420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32220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يشير إلى موضع واحد غير واضح ويكتب سؤالًا لا حكمًا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991356"/>
            <a:ext cx="5417820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97408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2974086" y="4382719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58368" y="5022799"/>
            <a:ext cx="5198364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يحكم على المجموعة من رقم الأداء وحده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عرض المشروع في دقيقة ونصف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20 ثانية: المشكلة والهدف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20 ثانية: البيانات والخصائص وخط التجهيز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20 ثانية: كيف قارنتم النماذج؟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13776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593580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3" descr="/home/claude/work/assets/icons/Fa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7281" y="4456420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3504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20 ثانية: النتيجة ومصفوفة الالتباس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4331208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11012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4" descr="/home/claude/work/assets/icons/FaExclamation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713" y="4456420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440936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10 ثوانٍ: خطأ لاحظتموه وخطوة تالية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548640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2028444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9" name="Image 5" descr="/home/claude/work/assets/icons/FaTab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2145" y="4456420"/>
            <a:ext cx="419527" cy="41952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58368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اعرضوا جدولًا أو مصفوفة أو رسمًا؛ لا تقرؤوا الكود سطرًا سطرًا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بطاقة تقييم العرض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189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وضوح المشكلة والهدف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سلامة سير العمل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اختيار مقياس مبرر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تفسير مصفوفة الأخطاء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ملاحظة مسؤولة عن حدود النموذج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22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تنظيم العرض ضمن الوقت</a:t>
            </a:r>
            <a:endParaRPr lang="en-US" sz="13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تحسينات ممكنة بعد المشروع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593580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راجع خاصية ظهرت في الأخطاء المتكررة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0" descr="/home/claude/work/assets/icons/Fa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اجمع بيانات أفضل أو أوضح عن الوقت والسياق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1" descr="/home/claude/work/assets/icons/FaSlider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جرّب إعدادًا مختلفًا بعد توثيق خط الأساس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افحص الإنصاف والخصوصية قبل إضافة بيانات جديدة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لا تنشر النموذج قبل فهم سلوكه على حالات جديدة</a:t>
            </a:r>
            <a:endParaRPr lang="en-US" sz="13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حدود مشروعنا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النتائج تعتمد على الملف والتقسيم والخصائص المستخدمة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التوقع احتمال أو فئة مساعدة، وليس سببًا مؤكدًا للمغادرة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22392" y="258089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0876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قد تتغير الأنماط عندما تتغير الخدمة أو السوق أو طريقة جمع البيانات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22392" y="488975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817620"/>
            <a:ext cx="4599432" cy="2308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التحقق الجيد لا يلغي الحاجة إلى مراجعة بشرية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رحلة المقرر مكتملة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E6F7F7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08760"/>
            <a:ext cx="5376672" cy="4617720"/>
          </a:xfrm>
          <a:prstGeom prst="roundRect">
            <a:avLst>
              <a:gd name="adj" fmla="val 2376"/>
            </a:avLst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200367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150876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صياغة المشكلة → سؤال مغادرة العميل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137392" y="315810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66319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فهم البيانات → فحص الجدول والنقص والأنواع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1137392" y="431253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81762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هندسة وتجهيز الخصائص → خط المعالجة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137392" y="5466969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4972050"/>
            <a:ext cx="4599432" cy="1154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التصنيف → توقع مغادرة / بقاء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22392" y="219608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150876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التقييم → F1 ومصفوفة الالتباس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22392" y="373532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304800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النماذج الشجرية → غابة عشوائية وXGBoost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22392" y="5274564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587240"/>
            <a:ext cx="4599432" cy="1539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تحليل الأخطاء → مراجعة حالات فعلية</a:t>
            </a:r>
            <a:endParaRPr lang="en-US" sz="13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صندوق الأدوات الذي أصبح لديك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Jupyter: توثيق الكود والشرح والنتائج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3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713" y="1928104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pandas: قراءة البيانات وفحصها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2028444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scikit-learn: التقسيم والتجهيز والنماذج والتقييم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Matplotlib: رسم سؤال واضح عن البيانات أو النتيجة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3" descr="/home/claude/work/assets/icons/FaMicroch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XGBoost: نموذج شجري متدرج للمقارنة</a:t>
            </a:r>
            <a:endParaRPr lang="en-US" sz="13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 الأسبوع التالي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113776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93580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9" name="Image 0" descr="/home/claude/work/assets/icons/Fa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67281" y="1928104"/>
            <a:ext cx="419527" cy="41952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3504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اختر سؤالًا صغيرًا من مجال تعرفه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331208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11012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811012" y="1854403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440936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اكتب بطاقة صياغة المشكلة قبل فتح أي مكتبة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1463040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28444" y="1854403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17" name="Image 1" descr="/home/claude/work/assets/icons/FaT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145" y="1928104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58368" y="2494483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ابحث عن بيانات مناسبة أو أنشئ مثالًا تعليميًا صغيرًا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222492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02296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1" name="Image 2" descr="/home/claude/work/assets/icons/Fa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5997" y="4456420"/>
            <a:ext cx="419527" cy="41952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332220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طبق المسار: سؤال → بيانات → تجهيز → نموذج → قياس → تفسير</a:t>
            </a:r>
            <a:endParaRPr lang="en-US" sz="1350" dirty="0"/>
          </a:p>
        </p:txBody>
      </p:sp>
      <p:sp>
        <p:nvSpPr>
          <p:cNvPr id="23" name="Shape 18"/>
          <p:cNvSpPr/>
          <p:nvPr/>
        </p:nvSpPr>
        <p:spPr>
          <a:xfrm>
            <a:off x="2439924" y="3991356"/>
            <a:ext cx="3526536" cy="2272284"/>
          </a:xfrm>
          <a:prstGeom prst="roundRect">
            <a:avLst>
              <a:gd name="adj" fmla="val 4024"/>
            </a:avLst>
          </a:prstGeom>
          <a:solidFill>
            <a:srgbClr val="E6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919728" y="4382719"/>
            <a:ext cx="566928" cy="566928"/>
          </a:xfrm>
          <a:prstGeom prst="ellipse">
            <a:avLst/>
          </a:prstGeom>
          <a:solidFill>
            <a:srgbClr val="29BA74"/>
          </a:solidFill>
          <a:ln/>
        </p:spPr>
      </p:sp>
      <p:pic>
        <p:nvPicPr>
          <p:cNvPr id="25" name="Image 3" descr="/home/claude/work/assets/icons/Fa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429" y="4456420"/>
            <a:ext cx="419527" cy="419527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2549652" y="5022799"/>
            <a:ext cx="3307080" cy="1204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احتفظ بدفتر مرتب ليسهل عليك الرجوع إليه</a:t>
            </a:r>
            <a:endParaRPr lang="en-US" sz="13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29BA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اليوم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828800" y="292608"/>
            <a:ext cx="9902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00" b="1" dirty="0">
                <a:solidFill>
                  <a:srgbClr val="1E3A6E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قاعدة العمل التي تبقى معك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6446520"/>
            <a:ext cx="164592" cy="164592"/>
          </a:xfrm>
          <a:prstGeom prst="ellipse">
            <a:avLst/>
          </a:prstGeom>
          <a:solidFill>
            <a:srgbClr val="29BA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33856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195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rot="10800000">
            <a:off x="9590532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8" name="Shape 6"/>
          <p:cNvSpPr/>
          <p:nvPr/>
        </p:nvSpPr>
        <p:spPr>
          <a:xfrm>
            <a:off x="998448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8448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68197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ابدأ بالسؤال، لا بالأداة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10800000">
            <a:off x="7833360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7314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7314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24800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افهم الأعمدة قبل أن تنظفها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6076188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16" name="Shape 14"/>
          <p:cNvSpPr/>
          <p:nvPr/>
        </p:nvSpPr>
        <p:spPr>
          <a:xfrm>
            <a:off x="6470142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0142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67628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افصل التدريب عن الاختبار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319016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2970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1297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410456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قارن بعدل واختر المقياس من أثر الخطأ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2561844" y="3118104"/>
            <a:ext cx="1299972" cy="256032"/>
          </a:xfrm>
          <a:prstGeom prst="chevron">
            <a:avLst/>
          </a:prstGeom>
          <a:solidFill>
            <a:srgbClr val="D9DEE8"/>
          </a:solidFill>
          <a:ln/>
        </p:spPr>
      </p:sp>
      <p:sp>
        <p:nvSpPr>
          <p:cNvPr id="24" name="Shape 22"/>
          <p:cNvSpPr/>
          <p:nvPr/>
        </p:nvSpPr>
        <p:spPr>
          <a:xfrm>
            <a:off x="2955798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55798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2653284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افحص الأخطاء قبل أن تثق بالنتيجة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198626" y="2743200"/>
            <a:ext cx="1005840" cy="1005840"/>
          </a:xfrm>
          <a:prstGeom prst="ellipse">
            <a:avLst/>
          </a:prstGeom>
          <a:solidFill>
            <a:srgbClr val="29BA7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98626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896112" y="3913632"/>
            <a:ext cx="16108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فسر النتيجة بصدق وحدد حدودها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235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إنهاء الدورة بمبادئ عملية موجزة وقابلة للتذكر.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19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420624" y="512064"/>
            <a:ext cx="256032" cy="256032"/>
          </a:xfrm>
          <a:prstGeom prst="triangle">
            <a:avLst/>
          </a:prstGeom>
          <a:solidFill>
            <a:srgbClr val="33CC99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106424" y="1289304"/>
            <a:ext cx="164592" cy="164592"/>
          </a:xfrm>
          <a:prstGeom prst="triangle">
            <a:avLst/>
          </a:prstGeom>
          <a:solidFill>
            <a:srgbClr val="F26522"/>
          </a:solidFill>
          <a:ln/>
        </p:spPr>
      </p:sp>
      <p:sp>
        <p:nvSpPr>
          <p:cNvPr id="4" name="Shape 2"/>
          <p:cNvSpPr/>
          <p:nvPr/>
        </p:nvSpPr>
        <p:spPr>
          <a:xfrm rot="-900000">
            <a:off x="722376" y="2093976"/>
            <a:ext cx="201168" cy="201168"/>
          </a:xfrm>
          <a:prstGeom prst="roundRect">
            <a:avLst/>
          </a:prstGeom>
          <a:solidFill>
            <a:srgbClr val="FCBD4C"/>
          </a:solidFill>
          <a:ln/>
        </p:spPr>
      </p:sp>
      <p:sp>
        <p:nvSpPr>
          <p:cNvPr id="5" name="Shape 3"/>
          <p:cNvSpPr/>
          <p:nvPr/>
        </p:nvSpPr>
        <p:spPr>
          <a:xfrm rot="1800000">
            <a:off x="11219688" y="429768"/>
            <a:ext cx="237744" cy="237744"/>
          </a:xfrm>
          <a:prstGeom prst="roundRect">
            <a:avLst/>
          </a:prstGeom>
          <a:solidFill>
            <a:srgbClr val="5B4FCF"/>
          </a:solidFill>
          <a:ln/>
        </p:spPr>
      </p:sp>
      <p:sp>
        <p:nvSpPr>
          <p:cNvPr id="6" name="Shape 4"/>
          <p:cNvSpPr/>
          <p:nvPr/>
        </p:nvSpPr>
        <p:spPr>
          <a:xfrm rot="-1500000">
            <a:off x="10698480" y="1371600"/>
            <a:ext cx="182880" cy="182880"/>
          </a:xfrm>
          <a:prstGeom prst="triangle">
            <a:avLst/>
          </a:prstGeom>
          <a:solidFill>
            <a:srgbClr val="33CC99"/>
          </a:solidFill>
          <a:ln/>
        </p:spPr>
      </p:sp>
      <p:sp>
        <p:nvSpPr>
          <p:cNvPr id="7" name="Shape 5"/>
          <p:cNvSpPr/>
          <p:nvPr/>
        </p:nvSpPr>
        <p:spPr>
          <a:xfrm rot="600000">
            <a:off x="11448288" y="2304288"/>
            <a:ext cx="146304" cy="146304"/>
          </a:xfrm>
          <a:prstGeom prst="triangle">
            <a:avLst/>
          </a:prstGeom>
          <a:solidFill>
            <a:srgbClr val="F26522"/>
          </a:solidFill>
          <a:ln/>
        </p:spPr>
      </p:sp>
      <p:sp>
        <p:nvSpPr>
          <p:cNvPr id="8" name="Shape 6"/>
          <p:cNvSpPr/>
          <p:nvPr/>
        </p:nvSpPr>
        <p:spPr>
          <a:xfrm rot="900000">
            <a:off x="365760" y="5029200"/>
            <a:ext cx="182880" cy="182880"/>
          </a:xfrm>
          <a:prstGeom prst="triangle">
            <a:avLst/>
          </a:prstGeom>
          <a:solidFill>
            <a:srgbClr val="5B4FCF"/>
          </a:solidFill>
          <a:ln/>
        </p:spPr>
      </p:sp>
      <p:sp>
        <p:nvSpPr>
          <p:cNvPr id="9" name="Shape 7"/>
          <p:cNvSpPr/>
          <p:nvPr/>
        </p:nvSpPr>
        <p:spPr>
          <a:xfrm rot="-1800000">
            <a:off x="987552" y="5742432"/>
            <a:ext cx="219456" cy="219456"/>
          </a:xfrm>
          <a:prstGeom prst="roundRect">
            <a:avLst/>
          </a:prstGeom>
          <a:solidFill>
            <a:srgbClr val="FCBD4C"/>
          </a:solidFill>
          <a:ln/>
        </p:spPr>
      </p:sp>
      <p:sp>
        <p:nvSpPr>
          <p:cNvPr id="10" name="Shape 8"/>
          <p:cNvSpPr/>
          <p:nvPr/>
        </p:nvSpPr>
        <p:spPr>
          <a:xfrm rot="2400000">
            <a:off x="297180" y="3954780"/>
            <a:ext cx="137160" cy="137160"/>
          </a:xfrm>
          <a:prstGeom prst="triangle">
            <a:avLst/>
          </a:prstGeom>
          <a:solidFill>
            <a:srgbClr val="33CC99"/>
          </a:solidFill>
          <a:ln/>
        </p:spPr>
      </p:sp>
      <p:sp>
        <p:nvSpPr>
          <p:cNvPr id="11" name="Shape 9"/>
          <p:cNvSpPr/>
          <p:nvPr/>
        </p:nvSpPr>
        <p:spPr>
          <a:xfrm rot="-1200000">
            <a:off x="11329416" y="4837176"/>
            <a:ext cx="201168" cy="201168"/>
          </a:xfrm>
          <a:prstGeom prst="roundRect">
            <a:avLst/>
          </a:prstGeom>
          <a:solidFill>
            <a:srgbClr val="F26522"/>
          </a:solidFill>
          <a:ln/>
        </p:spPr>
      </p:sp>
      <p:sp>
        <p:nvSpPr>
          <p:cNvPr id="12" name="Shape 10"/>
          <p:cNvSpPr/>
          <p:nvPr/>
        </p:nvSpPr>
        <p:spPr>
          <a:xfrm rot="1500000">
            <a:off x="10799064" y="5861304"/>
            <a:ext cx="164592" cy="164592"/>
          </a:xfrm>
          <a:prstGeom prst="triangle">
            <a:avLst/>
          </a:prstGeom>
          <a:solidFill>
            <a:srgbClr val="33CC99"/>
          </a:solidFill>
          <a:ln/>
        </p:spPr>
      </p:sp>
      <p:sp>
        <p:nvSpPr>
          <p:cNvPr id="13" name="Shape 11"/>
          <p:cNvSpPr/>
          <p:nvPr/>
        </p:nvSpPr>
        <p:spPr>
          <a:xfrm rot="-600000">
            <a:off x="11539728" y="3858768"/>
            <a:ext cx="146304" cy="146304"/>
          </a:xfrm>
          <a:prstGeom prst="roundRect">
            <a:avLst/>
          </a:prstGeom>
          <a:solidFill>
            <a:srgbClr val="5B4FCF"/>
          </a:solidFill>
          <a:ln/>
        </p:spPr>
      </p:sp>
      <p:sp>
        <p:nvSpPr>
          <p:cNvPr id="14" name="Shape 12"/>
          <p:cNvSpPr/>
          <p:nvPr/>
        </p:nvSpPr>
        <p:spPr>
          <a:xfrm rot="1200000">
            <a:off x="5961888" y="384048"/>
            <a:ext cx="146304" cy="146304"/>
          </a:xfrm>
          <a:prstGeom prst="roundRect">
            <a:avLst/>
          </a:prstGeom>
          <a:solidFill>
            <a:srgbClr val="FCBD4C"/>
          </a:solidFill>
          <a:ln/>
        </p:spPr>
      </p:sp>
      <p:sp>
        <p:nvSpPr>
          <p:cNvPr id="15" name="Shape 13"/>
          <p:cNvSpPr/>
          <p:nvPr/>
        </p:nvSpPr>
        <p:spPr>
          <a:xfrm rot="-900000">
            <a:off x="6684264" y="6227064"/>
            <a:ext cx="164592" cy="164592"/>
          </a:xfrm>
          <a:prstGeom prst="roundRect">
            <a:avLst/>
          </a:prstGeom>
          <a:solidFill>
            <a:srgbClr val="F2652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173736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ختام الدورة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017520"/>
            <a:ext cx="96286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أكملت رحلة تعلم آلة تطبيقية للمبتدئ</a:t>
            </a:r>
            <a:endParaRPr lang="en-US" sz="17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حوّلت سؤالًا إلى بيانات وتجهيز ونموذج وقياس وتفسير</a:t>
            </a:r>
            <a:endParaRPr lang="en-US" sz="17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الخطوة التالية ليست حفظ خوارزمية جديدة؛ بل تطبيق سير العمل على سؤال جديد</a:t>
            </a:r>
            <a:endParaRPr lang="en-US" sz="1700" dirty="0"/>
          </a:p>
          <a:p>
            <a:pPr algn="ctr"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شكرًا لمشاركتكم وتعاونكم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623560"/>
            <a:ext cx="9628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BD4C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شكرًا لكم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6108192"/>
            <a:ext cx="2148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/>
        </p:spPr>
      </p:sp>
      <p:pic>
        <p:nvPicPr>
          <p:cNvPr id="20" name="Image 0" descr="/home/claude/work/assets/branding/sdai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217920"/>
            <a:ext cx="1874520" cy="310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2026-09-07T22:19:00Z</dcterms:created>
  <dcterms:modified xsi:type="dcterms:W3CDTF">2026-09-07T22:19:00Z</dcterms:modified>
</cp:coreProperties>
</file>