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بطمأنة الطلاب: لا توجد معرفة سابقة مفترضة. وضّح أن المنتج النهائي هو مشروع صغير يمكنهم شرحه.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مثالًا واحدًا من الطلاب أولًا. بعد الإجابات، اربط الأمثلة بالحاجة إلى بيانات سابقة لا بمجرد وجود تطبيق.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الإجابات لتحديد سرعة المختبر. قل إن كلمة «لا أعرف» بداية مناسبة وليست مشكلة.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أكد أن كل يوم يبني مكوّنًا نحتاجه في اليوم الذي يليه؛ لن نقفز مباشرة إلى نموذج.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النواتج بصيغة «سأستطيع». لا تعد بقدرات خبير؛ الهدف تأسيس طريقة عمل صحيحة.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إننا لن نتعلم كل خصائص كل مكتبة؛ سنستخدم الحد العملي منها في الوقت المناسب.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أن بناء النموذج ليس هدف اليوم. هدف اليوم هو اختيار السؤال الصحيح وفهم ما في الجدول.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تجنب نقاشات تاريخية طويلة. المهم أن يدرك الطالب أن تعلم الآلة طريقة لحل أنواع محددة من المشكلات.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اذكر أن التعلم ليس بديلًا أفضل دائمًا؛ قاعدة واضحة وبسيطة هي الخيار المناسب عندما تكون القاعدة معروفة.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النموذج لا يعرف المستقبل ولا يفهم العالم مثل الإنسان؛ هو يستفيد فقط من العلاقات التي تظهر في بياناته.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حد التشبيه: الموظف قد يسأل عن معلومات جديدة، أما النموذج فلا يرى إلا الأعمدة التي نضعها له.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أحد الطلاب أن يعيد المثال باستخدام اقتراح فيلم بدل التوصيل.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مثال دفتر حضور أو سجل طلبات لتأكيد أن الطالب يعرف شكل مجموعة البيانات حتى لو لم يسمع المصطلح.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وحدة التنبؤ يجب أن تكون ثابتة. لا نخلط صفوفًا تمثل عملاء مع صفوف تمثل طلبات دون تصميم مقصود.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اسأل: «هل رقم الطلب عمود؟ نعم. هل يعني ذلك أنه خاصية مفيدة؟ ليس بالضرورة».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كرر القاعدة المهمة: لا نستخدم معلومة ستحدث بعد القرار. سنسمي هذه المشكلة ونتجنبها في اليوم الثاني.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أن اختيار الهدف يحدد نوع المهمة وطريقة القياس. لذلك لا نبدأ باسم الخوارزمية.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تقل إن كل معرّف ممنوع دائمًا؛ قل إن نقطة البداية للمبتدئ هي استبعاده حتى يجد سببًا قويًا لاستخدامه.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اربطه بتشبيه الموظف: البطاقات المشروحة هي أمثلة التدريب.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الطالب تحديد الهدف بصوت عالٍ قبل كشف الإجابة على السلايد.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احرص على عدم خلطه بالتصنيف: التجميع يكتشف مجموعات، بينما التصنيف يتعلم فئات سُميت مسبقًا.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تصنيف سؤالين شفهيين: توقع قيمة فاتورة، وتجميع عملاء بلا تسميات.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تدخل في أسماء خوارزميات التصنيف الآن. المهم شكل الإجابة: فئة، لا رقم له مقدار.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أن 0 و1 في هدف التصنيف مجرد تسميتين غالبًا، وليسا رقمين مناسبين لمهمة انحدار.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امنح الطلاب دقيقة عمل ثنائي. اطلب منهم تبرير الإجابة بكلمتي «فئة» أو «رقم»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معظم الوقت العملي ليس في زر التدريب، بل في المراحل التي قبله وبعده.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أكد أن تعريف «متأخر» يجب أن يكون متفقًا عليه في العمل، وليس اختيارًا تقنيًا عشوائيًا.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تملأ كل الخانات للطلاب. استخدم القالب في نشاط صغير ثم راجع مثالين شفهيًا.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سمِّ المشكلة شفهيًا «تسريب بيانات» وقل إن النتيجة قد تبدو ممتازة في الدفتر لكنها لا تعمل عند الاستخدام الحقيقي.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أوضح أن تشغيل الخلايا ليس ترتيبًا سحريًا؛ النتيجة تعتمد على تشغيل الخلايا السابقة التي تعرّف المتغيرات.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`head()` لا ينظف ولا يدرب؛ وظيفته فقط أن يرانا بداية الجدول.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خذ الإجابات بسرعة: صف = طلب، هدفان = التأخر والدقائق، رقم الطلب = معرّف، ثم نسأل هل العمود متاح قبل القرار.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أكد أن هذا مختبر موجه؛ ستعرض أول خطوة ثم يعمل الطلاب معك خطوة بخطوة.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توقف بعد الخطوة الثالثة للتأكد من أن الجميع يرى جدولًا. لا تتقدم إذا كان اسم الملف أو المسار غير صحيح.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ناتج `isna().sum()` بأنه عدد الخلايا الفارغة في كل عمود، لا قرار المعالجة بعد.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راجع إجابتين علنًا. أعط تغذية راجعة على السبب لا على الصياغة اللغوية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بسؤال خروج: «اذكر هدفًا واحدًا وفئته أو نوعه من حياتك اليومية».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image" Target="../media/image-33-1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2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420624" y="512064"/>
            <a:ext cx="256032" cy="256032"/>
          </a:xfrm>
          <a:prstGeom prst="roundRect">
            <a:avLst/>
          </a:prstGeom>
          <a:solidFill>
            <a:srgbClr val="33CC9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106424" y="1289304"/>
            <a:ext cx="164592" cy="164592"/>
          </a:xfrm>
          <a:prstGeom prst="triangle">
            <a:avLst/>
          </a:prstGeom>
          <a:solidFill>
            <a:srgbClr val="F26522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722376" y="2093976"/>
            <a:ext cx="201168" cy="201168"/>
          </a:xfrm>
          <a:prstGeom prst="roundRect">
            <a:avLst/>
          </a:prstGeom>
          <a:solidFill>
            <a:srgbClr val="FCBD4C"/>
          </a:solidFill>
          <a:ln/>
        </p:spPr>
      </p:sp>
      <p:sp>
        <p:nvSpPr>
          <p:cNvPr id="5" name="Shape 3"/>
          <p:cNvSpPr/>
          <p:nvPr/>
        </p:nvSpPr>
        <p:spPr>
          <a:xfrm rot="1800000">
            <a:off x="11219688" y="429768"/>
            <a:ext cx="237744" cy="237744"/>
          </a:xfrm>
          <a:prstGeom prst="triangle">
            <a:avLst/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-1500000">
            <a:off x="10698480" y="1371600"/>
            <a:ext cx="182880" cy="182880"/>
          </a:xfrm>
          <a:prstGeom prst="roundRect">
            <a:avLst/>
          </a:prstGeom>
          <a:solidFill>
            <a:srgbClr val="33CC99"/>
          </a:solidFill>
          <a:ln/>
        </p:spPr>
      </p:sp>
      <p:sp>
        <p:nvSpPr>
          <p:cNvPr id="7" name="Shape 5"/>
          <p:cNvSpPr/>
          <p:nvPr/>
        </p:nvSpPr>
        <p:spPr>
          <a:xfrm rot="600000">
            <a:off x="11448288" y="2304288"/>
            <a:ext cx="146304" cy="146304"/>
          </a:xfrm>
          <a:prstGeom prst="roundRect">
            <a:avLst/>
          </a:prstGeom>
          <a:solidFill>
            <a:srgbClr val="F26522"/>
          </a:solidFill>
          <a:ln/>
        </p:spPr>
      </p:sp>
      <p:sp>
        <p:nvSpPr>
          <p:cNvPr id="8" name="Shape 6"/>
          <p:cNvSpPr/>
          <p:nvPr/>
        </p:nvSpPr>
        <p:spPr>
          <a:xfrm rot="900000">
            <a:off x="365760" y="5029200"/>
            <a:ext cx="182880" cy="182880"/>
          </a:xfrm>
          <a:prstGeom prst="triangle">
            <a:avLst/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-1800000">
            <a:off x="987552" y="5742432"/>
            <a:ext cx="219456" cy="219456"/>
          </a:xfrm>
          <a:prstGeom prst="triangle">
            <a:avLst/>
          </a:prstGeom>
          <a:solidFill>
            <a:srgbClr val="FCBD4C"/>
          </a:solidFill>
          <a:ln/>
        </p:spPr>
      </p:sp>
      <p:sp>
        <p:nvSpPr>
          <p:cNvPr id="10" name="Shape 8"/>
          <p:cNvSpPr/>
          <p:nvPr/>
        </p:nvSpPr>
        <p:spPr>
          <a:xfrm rot="2400000">
            <a:off x="297180" y="3954780"/>
            <a:ext cx="137160" cy="137160"/>
          </a:xfrm>
          <a:prstGeom prst="roundRect">
            <a:avLst/>
          </a:prstGeom>
          <a:solidFill>
            <a:srgbClr val="33CC99"/>
          </a:solidFill>
          <a:ln/>
        </p:spPr>
      </p:sp>
      <p:sp>
        <p:nvSpPr>
          <p:cNvPr id="11" name="Shape 9"/>
          <p:cNvSpPr/>
          <p:nvPr/>
        </p:nvSpPr>
        <p:spPr>
          <a:xfrm rot="-1200000">
            <a:off x="11329416" y="4837176"/>
            <a:ext cx="201168" cy="201168"/>
          </a:xfrm>
          <a:prstGeom prst="roundRect">
            <a:avLst/>
          </a:prstGeom>
          <a:solidFill>
            <a:srgbClr val="F26522"/>
          </a:solidFill>
          <a:ln/>
        </p:spPr>
      </p:sp>
      <p:sp>
        <p:nvSpPr>
          <p:cNvPr id="12" name="Shape 10"/>
          <p:cNvSpPr/>
          <p:nvPr/>
        </p:nvSpPr>
        <p:spPr>
          <a:xfrm rot="1500000">
            <a:off x="10799064" y="5861304"/>
            <a:ext cx="164592" cy="164592"/>
          </a:xfrm>
          <a:prstGeom prst="roundRect">
            <a:avLst/>
          </a:prstGeom>
          <a:solidFill>
            <a:srgbClr val="33CC99"/>
          </a:solidFill>
          <a:ln/>
        </p:spPr>
      </p:sp>
      <p:sp>
        <p:nvSpPr>
          <p:cNvPr id="13" name="Shape 11"/>
          <p:cNvSpPr/>
          <p:nvPr/>
        </p:nvSpPr>
        <p:spPr>
          <a:xfrm rot="-600000">
            <a:off x="11539728" y="3858768"/>
            <a:ext cx="146304" cy="146304"/>
          </a:xfrm>
          <a:prstGeom prst="roundRect">
            <a:avLst/>
          </a:prstGeom>
          <a:solidFill>
            <a:srgbClr val="5B4FCF"/>
          </a:solidFill>
          <a:ln/>
        </p:spPr>
      </p:sp>
      <p:sp>
        <p:nvSpPr>
          <p:cNvPr id="14" name="Shape 12"/>
          <p:cNvSpPr/>
          <p:nvPr/>
        </p:nvSpPr>
        <p:spPr>
          <a:xfrm rot="1200000">
            <a:off x="5961888" y="384048"/>
            <a:ext cx="146304" cy="146304"/>
          </a:xfrm>
          <a:prstGeom prst="roundRect">
            <a:avLst/>
          </a:prstGeom>
          <a:solidFill>
            <a:srgbClr val="FCBD4C"/>
          </a:solidFill>
          <a:ln/>
        </p:spPr>
      </p:sp>
      <p:sp>
        <p:nvSpPr>
          <p:cNvPr id="15" name="Shape 13"/>
          <p:cNvSpPr/>
          <p:nvPr/>
        </p:nvSpPr>
        <p:spPr>
          <a:xfrm rot="-900000">
            <a:off x="6684264" y="6227064"/>
            <a:ext cx="164592" cy="164592"/>
          </a:xfrm>
          <a:prstGeom prst="triangle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155448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أساسيات تعلم الآلة التطبيقية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880360"/>
            <a:ext cx="9445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رحلة للمبتدئ: من سؤال واقعي إلى نموذج ونتيجة مفهومة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المدة: 5 أيام تدريبية — 25 ساعة</a:t>
            </a:r>
            <a:endParaRPr lang="en-US" sz="1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قاعدة الدورة: نفهم قبل أن ندرّب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237080" y="5074920"/>
            <a:ext cx="402336" cy="402336"/>
          </a:xfrm>
          <a:prstGeom prst="ellipse">
            <a:avLst/>
          </a:prstGeom>
          <a:solidFill>
            <a:srgbClr val="33CC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98168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تقييم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39416" y="5276088"/>
            <a:ext cx="1426464" cy="0"/>
          </a:xfrm>
          <a:prstGeom prst="line">
            <a:avLst/>
          </a:prstGeom>
          <a:noFill/>
          <a:ln w="15875">
            <a:solidFill>
              <a:srgbClr val="5A628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065880" y="5074920"/>
            <a:ext cx="402336" cy="402336"/>
          </a:xfrm>
          <a:prstGeom prst="ellipse">
            <a:avLst/>
          </a:prstGeom>
          <a:solidFill>
            <a:srgbClr val="F265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26968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نموذج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68216" y="5276088"/>
            <a:ext cx="1426464" cy="0"/>
          </a:xfrm>
          <a:prstGeom prst="line">
            <a:avLst/>
          </a:prstGeom>
          <a:noFill/>
          <a:ln w="15875">
            <a:solidFill>
              <a:srgbClr val="5A62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894680" y="5074920"/>
            <a:ext cx="402336" cy="402336"/>
          </a:xfrm>
          <a:prstGeom prst="ellipse">
            <a:avLst/>
          </a:prstGeom>
          <a:solidFill>
            <a:srgbClr val="FCBD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55768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تجهيز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97016" y="5276088"/>
            <a:ext cx="1426464" cy="0"/>
          </a:xfrm>
          <a:prstGeom prst="line">
            <a:avLst/>
          </a:prstGeom>
          <a:noFill/>
          <a:ln w="15875">
            <a:solidFill>
              <a:srgbClr val="5A628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723480" y="5074920"/>
            <a:ext cx="402336" cy="402336"/>
          </a:xfrm>
          <a:prstGeom prst="ellipse">
            <a:avLst/>
          </a:prstGeom>
          <a:solidFill>
            <a:srgbClr val="5B4F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84568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بيانات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25816" y="5276088"/>
            <a:ext cx="1426464" cy="0"/>
          </a:xfrm>
          <a:prstGeom prst="line">
            <a:avLst/>
          </a:prstGeom>
          <a:noFill/>
          <a:ln w="15875">
            <a:solidFill>
              <a:srgbClr val="5A628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552280" y="5074920"/>
            <a:ext cx="402336" cy="402336"/>
          </a:xfrm>
          <a:prstGeom prst="ellipse">
            <a:avLst/>
          </a:prstGeom>
          <a:solidFill>
            <a:srgbClr val="29BA7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13368" y="5532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108192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pic>
        <p:nvPicPr>
          <p:cNvPr id="33" name="Image 0" descr="/home/claude/work/assets/branding/sdai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217920"/>
            <a:ext cx="1874520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 افتتاحي: أين نرى التوقعات حولنا؟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000" dirty="0"/>
          </a:p>
        </p:txBody>
      </p:sp>
      <p:pic>
        <p:nvPicPr>
          <p:cNvPr id="7" name="Image 0" descr="/home/claude/work/assets/illustrations/optimized/img_team_icons_a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ربط تعلم الآلة بخبرات يومية قبل تعريفه.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47688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476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 التطبيق الذي يقترح فيلمًا مناسبًا لك؟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42557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425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9753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 الخريطة التي تقول: «الوصول بعد 18 دقيقة»؟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437426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43742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4622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 البريد الذي يضع رسالة في غير المرغوب؟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532295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53229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99491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الفكرة المشتركة: أمثلة قديمة تساعد على قرار جديد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قبل أن نبدأ: ماذا تعرف؟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CloudUpload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ارفع بطاقة أو استخدم التصويت السريع: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كتبت كودًا من قبل؟ نعم / قليلًا / لا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تعاملت مع جدول بيانات؟ نعم / قليلًا / لا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السؤال الذي تريد أن تجيب عنه بالبيانات؟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خريطة الأيام الخمسة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000" dirty="0"/>
          </a:p>
        </p:txBody>
      </p:sp>
      <p:pic>
        <p:nvPicPr>
          <p:cNvPr id="7" name="Image 0" descr="/home/claude/work/assets/illustrations/optimized/img_pipeline_stag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إعطاء صورة شاملة عن التسلسل المتصل للدورة.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382012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382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1: السؤال والبيانات والأنواع الأساسية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140964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1409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907792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2: تنظيف البيانات وتجهيز الخصائص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3899916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666744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3: التصنيف والانحدار والتوقع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4658868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46588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425696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4: القياس والنماذج الشجرية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109960" y="5417820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109960" y="54178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5184648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5: مشروع متكامل وعرض النتيجة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ماذا ستنجز في نهاية الدورة؟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أحوّل سؤال عمل إلى مهمة بيانات واضحة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أجهز البيانات في خط معالجة منظم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أدرب نموذج تصنيف ونموذج انحدار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أقارن نماذج وأفسر أخطاءها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أنجز مشروع تعلم آلة صغيرًا من البداية إلى النهاية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أدوات الرحلة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دفتر جوبيتر (Jupyter): مكان يجمع الشرح والكود والنتيجة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بانداس (pandas): لقراءة الجداول وفحصها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ساي كيت-ليرن (scikit-learn): لتجهيز البيانات وبناء النماذج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ماتبلوتليب (Matplotlib): لرسم البيانات والنتائج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5" name="Image 4" descr="/home/claude/work/assets/icons/FaMicroch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إكس جي بوست (XGBoost): نموذج شجري متدرج سنستخدمه بعد التقييم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أهداف اليوم الأول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</a:t>
            </a:r>
            <a:endParaRPr lang="en-US" sz="1000" dirty="0"/>
          </a:p>
        </p:txBody>
      </p:sp>
      <p:pic>
        <p:nvPicPr>
          <p:cNvPr id="7" name="Image 0" descr="/home/claude/work/assets/illustrations/optimized/img_team_ic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تحديد ما يجب أن يعرفه الطالب ويطبقه بنهاية اليوم.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382012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382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أميّز بين الذكاء الاصطناعي وتعلم الآلة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140964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1409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907792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أتعرف على الصف والعمود والخصائص والهدف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3899916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666744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أفرق بين التعلم الخاضع وغير الخاضع للإشراف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4658868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46588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425696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أصوغ سؤالًا قابلًا للتعلم من البيانات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109960" y="5417820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109960" y="54178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5184648"/>
            <a:ext cx="470916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أفتح ملفًا وأستكشفه في دفتر جوبيتر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الذكاء الاصطناعي وتعلم الآلة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الذكاء الاصطناعي: مظلة واسعة لبرامج تنفذ مهامًا تبدو ذكية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تعلم الآلة (Machine Learning): جزء منها يتعلم نمطًا من أمثلة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ليس كل برنامج يستخدم الذكاء الاصطناعي نموذج تعلم آلة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هدفنا هنا: استخدام البيانات لبناء توقعات مفيدة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القاعدة المكتوبة أم التعلم من الأمثلة؟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قاعدة مكتوبة: «إذا كان الرصيد أقل من الصفر، ارفض العملية»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تعلم من أمثلة: «هل هذه العملية المالية غير معتادة؟»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التعلم عندما تتعدد العوامل ويصعب كتابة قاعدة لكل حالة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نحتاج إلى أمثلة قديمة لها نتائج معروفة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تعريف عملي لتعلم الآلة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/home/claude/work/assets/illustrations/optimized/img_progress_gr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تقديم تعريف يمكن استخدامه خلال بقية الدورة.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47688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476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تعلم الآلة: أسلوب يجعل الحاسوب يتعلم علاقة مفيدة من أمثلة سابقة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42557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425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9753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نكتب كل قرار يدويًا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437426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43742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4622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ندخل بيانات عن حالات سابقة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532295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53229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99491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نحصل على توقع أو فئة أو مجموعة لحالة جديدة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تشبيه: تعليم موظف جديد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نعطي موظفًا جديدًا طلبات سابقة ونتيجة كل طلب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يرى: المسافة، وقت الطلب، عدد المنتجات، وحالة التأخر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 الأمثلة يبدأ بملاحظة نمط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ShoppingC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ثم نسأله عن طلب جديد لم يره من قبل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ثلاثة مكوّنات في كل مثال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البيانات: أمثلة أو صفوف عن حالات سابقة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النموذج: طريقة تبحث عن نمط في البيانات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التوقع: إجابة يقدمها النموذج لحالة جديدة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خصائص طلب ← نموذج ← «متأخر»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مفردات الجدول: مجموعة البيانات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مجموعة البيانات (Dataset): ملف أو جدول يحوي أمثلة مرتبطة بالسؤال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 صف يمثل حالة واحدة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كل عمود يمثل معلومة عن الحالة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ليس كل عمود مناسبًا للنموذج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مفردات الجدول: الصف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الصف (Row): سجل واحد أو حالة واحدة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بيانات التوصيل: الصف = طلب واحد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في بيانات العملاء: الصف = عميل واحد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السؤال المهم: ما «وحدة التنبؤ» في مشكلتي؟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مفردات الجدول: العمود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العمود (Column): معلومة واحدة تتكرر لكل صف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أمثلة: المسافة، المنطقة، عدد المنتجات، وقت الطلب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اسم العمود يساعدنا، لكن معنى العمود أهم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نفحص نوع العمود وقيمه قبل استخدامه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الخصائص: ما نعرفه قبل القرار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الخصائص (Features): الأعمدة التي نستخدمها لإنتاج توقع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أمثلة: المسافة، عدد المنتجات، المنطقة، وقت الطلب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الخاصية الجيدة متاحة قبل لحظة التوقع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الخاصية يجب أن يكون لها معنى منطقي في السؤال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الهدف: الإجابة التي نريد تعلمها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 (Target): الإجابة التي نريد من النموذج تعلمها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سؤال: هل سيتأخر الطلب؟ الهدف: `late`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سؤال: كم دقيقة يستغرق؟ الهدف: `delivery_minutes`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نفس البيانات قد تخدم هدفين مختلفين، لكن لا نخلطهما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المعرّف خاصية؟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الطلب يساعد على التتبع، لكنه لا يصف سبب التأخر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العميل قد يجعل النموذج يحفظ حالات بدل أن يتعلم نمطًا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نستخدم المعرّف كخاصية إلا بسبب واضح ومثبت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نسأل: هل لهذا العمود معنى يمكن أن يتكرر في حالة جديدة؟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التعلم الخاضع للإشراف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التعلم الخاضع للإشراف (Supervised Learning): لدينا خصائص وهدف معروف للحالات السابقة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نتعلم من أمثلة «سؤال + إجابة صحيحة»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بعد التدريب نتوقع الهدف لحالة جديدة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ShoppingC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طلبات سابقة نعرف هل تأخرت أم لا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 كامل على التعلم الخاضع للإشراف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8711946" y="3118104"/>
            <a:ext cx="2178558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545193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45193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803386" y="3913632"/>
            <a:ext cx="2489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الصف: طلب توصيل مكتمل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6076188" y="3118104"/>
            <a:ext cx="2178558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909435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9435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167628" y="3913632"/>
            <a:ext cx="2489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الخصائص: مسافة، منطقة، وقت، عدد منتجات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3440430" y="3118104"/>
            <a:ext cx="2178558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3677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3677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531870" y="3913632"/>
            <a:ext cx="2489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الهدف: هل تأخر الطلب؟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37919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37919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3913632"/>
            <a:ext cx="24894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الناتج الجديد: توقع لحالة طلب لم تصل بعد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تطبيق التعريف على سيناريو قريب من الحياة.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التعلم غير الخاضع للإشراف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التعلم غير الخاضع للإشراف (Unsupervised Learning): لدينا خصائص لكن لا نملك إجابة نريد توقعها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نبحث عن مجموعات أو تشابهات داخل البيانات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تجميع عملاء متشابهين في الاستخدام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نقول هنا «صحيح» و«خطأ» بالطريقة نفسها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اختر النوع من وجود الإجابة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نعرف النتيجة الصحيحة للحالات السابقة؟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نعم → تعلم خاضع للإشراف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1" descr="/home/claude/work/assets/icons/Fa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→ تعلم غير خاضع للإشراف لاستكشاف نمط أو مجموعة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«هل سيغادر العميل؟» نعم إذا كان لدينا سجل مغادرة سابق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التصنيف: توقع اسم فئة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التصنيف (Classification): نتوقع فئة أو تسمية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 ثنائي: متأخر / في الموعد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 آخر: رسالة مرغوب / غير مرغوب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يمكن أن تكون الفئات اثنتين أو أكثر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الانحدار: توقع رقم ذي مقدار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الانحدار (Regression): نتوقع رقمًا له مقدار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مثال: عدد دقائق التوصيل المتوقعة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أمثلة: سعر تقديري، كمية مبيعات، استهلاك كهرباء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0" descr="/home/claude/work/assets/icons/Fa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40 دقيقة أقرب إلى 41 دقيقة من 5 دقائق؛ لذلك للرقم معنى مسافة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نشاط: فئة أم رقم؟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سيستجيب العميل للرسالة؟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كم ستكون قيمة الطلب القادم؟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الجهاز يحتاج صيانة؟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كم كيلوواط سيستهلك المنزل غدًا؟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سير عمل تعلم الآلة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9590532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984486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8448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8197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سؤال وقرار واضحان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7833360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7314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7314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924800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بيانات مفهومة وفحص أولي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6076188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0142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0142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167628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تجهيز خصائص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4319016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2970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297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410456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تدريب واختبار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2561844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4" name="Shape 22"/>
          <p:cNvSpPr/>
          <p:nvPr/>
        </p:nvSpPr>
        <p:spPr>
          <a:xfrm>
            <a:off x="2955798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55798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653284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قياس وتحليل أخطاء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98626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9862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6. اختيار وتواصل مسؤول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عرض الخريطة التي ستتكرر في المشروع النهائي.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 سؤال عمل مبهم إلى سؤال قابل للتعلم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 مبهم: «نريد تحسين التوصيل»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 محدد: «هل سيتأخر هذا الطلب أكثر من 10 دقائق؟»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القرار: تنبيه فريق التوصيل مبكرًا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لحظة القرار: بعد إنشاء الطلب وقبل بدء التوصيل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بطاقة صياغة المشكلة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93580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نريد توقع: …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11012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لمن أو لأي حالة: …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028444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باستخدام معلومات متاحة حتى: …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0229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ليساعد في قرار: …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5" name="Image 0" descr="/home/claude/work/assets/icons/FaThumbs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وسنعتبر النتيجة الجيدة عندما: …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فخ شائع: معلومة من المستقبل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29</a:t>
            </a:r>
            <a:endParaRPr lang="en-US" sz="1000" dirty="0"/>
          </a:p>
        </p:txBody>
      </p:sp>
      <p:pic>
        <p:nvPicPr>
          <p:cNvPr id="7" name="Image 0" descr="/home/claude/work/assets/illustrations/optimized/img_gate_fil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تقديم فكرة تسريب المعلومات بصورة بسيطة.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47688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476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نستخدم «وقت الوصول الفعلي» لتوقع التأخر قبل الوصول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342557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342557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09753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نستخدم «شكوى بعد التأخير» لتوقع التأخر قبل حدوثه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437426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43742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04622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اسأل دائمًا: هل كانت هذه المعلومة متاحة في لحظة القرار؟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5322951"/>
            <a:ext cx="292608" cy="29260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53229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994910"/>
            <a:ext cx="4709160" cy="94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إذا كانت الإجابة لا، نستبعدها من الخصائص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بيئة العمل: دفتر جوبيتر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دفتر جوبيتر (Jupyter): ملف يجمع نصًا وكودًا ونتائج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خلية نص: تشرح ما فعلناه ولماذا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خلية كود: تكتب أمرًا وتشغله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شغّل الخلية باستخدام Shift + Enter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أول أمر: قراءة ملف بيانات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93580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3504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نستورد بانداس (pandas) بالاختصار `pd`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31208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440936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نقرأ ملف القيم المفصولة بفواصل إلى جدول داخل الذاكرة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نعرض أول خمسة صفوف قبل اتخاذ أي قرار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نشاط فحص قبل المختبر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الصف الذي يمثله هذا الملف؟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الهدفان المحتملان في بيانات التوصيل؟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العمود الذي يبدو معرّفًا فقط؟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معلومة نحتاج أن نعرفها قبل استخدام أي عمود؟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1: المهمة والبيانات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 المختبر: قراءة بيانات التوصيل وتسميـة الخصائص والهدف قبل تدريب أي نموذج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السيناريو أو البيانات: `طلبات_التوصيل.csv`؛ كل صف طلب مكتمل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الناتج المطلوب: ملاحظة من ثلاث جمل عن حجم البيانات والهدف والخصائص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الزمن المقترح: 35 دقيقة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1: خطوات التنفيذ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9239098" y="3118104"/>
            <a:ext cx="165140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808769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08769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330538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افتح `lab01_explore.ipynb`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7130491" y="3118104"/>
            <a:ext cx="165140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00162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00162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221931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استورد pandas واقرأ الملف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021885" y="3118104"/>
            <a:ext cx="165140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1556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9155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113325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اعرض أول خمسة صفوف باستخدام `head()`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2913278" y="3118104"/>
            <a:ext cx="165140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3482950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8295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004718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اعرض أسماء الأعمدة وأنواعها باستخدام `info…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4343" y="2743200"/>
            <a:ext cx="1005840" cy="1005840"/>
          </a:xfrm>
          <a:prstGeom prst="ellipse">
            <a:avLst/>
          </a:prstGeom>
          <a:solidFill>
            <a:srgbClr val="33CC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4343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اكتب هدفين محتملين وخصائص مناسبة لكل هدف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إعطاء تسلسل تنفيذ واضح لا يحتاج الطالب أن يخمّنه.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1: ما سيكتبه الطالب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11012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شغّل الخلايا التالية ثم اكتب إجابتك تحتها: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1: التحقق والنتيجة المتوقعة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8F8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النتيجة المتوقعة: جدول أولي، عدد الصفوف والأعمدة، وعدد القيم الناقصة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المهارات التي يراجعها الطالب: صف، عمود، خاصية، هدف، فحص أولي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فحص ذاتي: «هل المنطقة خاصية أم هدف؟» — خاصية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في الدفتر: «لا أستخدم رقم الطلب كخاصية لأن…»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3CC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ملخص اليوم الأول وتمهيد الغد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33C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تعلم الآلة يبدأ بسؤال وبيانات، لا باسم نموذج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3" name="Image 1" descr="/home/claude/work/assets/icons/Fa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الخصائص متاحة قبل القرار؛ الهدف هو الإجابة المطلوبة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17" name="Image 2" descr="/home/claude/work/assets/icons/Fa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وجود هدف سابق يعني تعلمًا خاضعًا للإشراف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8F8F3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33CC99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غدًا: الخلايا الفارغة والنصوص والمقاييس وكيف نجعل البيانات جاهزة للتعلم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2026-09-07T22:19:00Z</dcterms:created>
  <dcterms:modified xsi:type="dcterms:W3CDTF">2026-09-07T22:19:00Z</dcterms:modified>
</cp:coreProperties>
</file>