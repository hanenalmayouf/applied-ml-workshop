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إننا اليوم نبني التوقعات، وغدًا نتعلم كيف نحكم عليها بعدل.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طالب أن يذكر لماذا يبقى الاختبار مقفلًا حتى التقييم.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استخدم كلمة «تقريبية»؛ النماذج لا تقدم وعدًا يقينيًا.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أوقف الشرح هنا لتمرين شفهي سريع: «هل سيتعطل الجهاز؟» ثم «كم ساعة سيعمل؟».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وضح أن 1 لا يعني «تأخيرًا أكبر»؛ إنه رمز للفئة فقط.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نستخدم هذا النوع في المختبر الرئيسي حتى لا يتشتت المبتدئ؛ الهدف هو معرفة وجوده.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تدخل في معايرة الاحتمالات. الهدف أن يفهم الطالب أن التصنيف قد يمر عبر احتمال.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تحسم إجابة واحدة. اجعل الطلاب يلاحظون أن القرار يتغير حسب تكلفة الأخطاء.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تقل إن البساطة تعني دائمًا أداءً ضعيفًا أو أن التعقيد أفضل.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الاسم تاريخي ويكفي في هذه المرحلة تذكر وظيفته: تصنيف.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أن الرسم يستخدم خاصيتين فقط للعرض، بينما النموذج يمكنه استخدام خصائص أكثر.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فقط سبب `max_iter=1000`: نعطي النموذج فرصة كافية لإكمال التعلم، وليس رقمًا نحتاج حفظه.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كلمة fit تعني «ملاءمة النموذج للبيانات التدريبية» لا «التأكد أنه صحيح».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اجعل الطلاب يكررون: «X للاستخدام، y للإجابة الصحيحة».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الفضول لفهم صف واحد جيد، لكن قرار اختيار نموذج يحتاج مقاييس منظمة غدًا.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الفكرة بالسؤال: هل أضاف النموذج شيئًا أفضل من التخمين البسيط؟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أكد أن 31.2 ليست وعدًا أن التوصيل سيتم بعد 31 دقيقة و12 ثانية؛ هي تقدير.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الارتباط الظاهر لا يعني أن المسافة وحدها تفسر كل شيء.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امتنع عن شرح الميل أو الاشتقاق. استخدم عبارة «أفضل اتجاه عام» فقط.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إعادة استخدام خط التجهيز تقلل النسخ والأخطاء وتبقي المقارنة عادلة.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شدد على تسمية المتغيرات. يمكن استخدام نفس X فقط إذا كانت الخصائص نفسها، لكن الهدف يحدد ما نتدرب عليه.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الطلاب أن يصححوا عبارة خاطئة: «سنستخدم الانحدار لتوقع متأخر=1».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مهارة عامة: لا يطلب من الطالب حفظ كل سطر، بل معرفة موقع كل وظيفة.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دع الطلاب يرتبون البطاقات في ثنائيات لدقيقة. صحح السبب، لا الترتيب فقط.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أخبر الطلاب أن نتيجة هذا المختبر ليست «الأفضل» بعد؛ فقط مخرجات صالحة للقياس.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مرر على المجموعات بعد الخطوة 2؛ أكثر الأخطاء شيوعًا هي إدخال الهدف داخل X.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الطالب استبدال `feature_columns` بالقائمة التي حددها، لا أن يضيف الهدف أو أعمدة المستقبل.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اسأل: هل يمكن أن يكون `late` خاصية لتوقع الدقائق؟ ناقش توفره في لحظة التوقع قبل السماح به.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تأكد أن `X` لا يحتوي عمود دقائق التوصيل. هذه لحظة مناسبة لذكر التسريب مرة أخرى.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نبه أن النموذج لا يشرح السبب من هذا العرض وحده. الجملة تصف المعلومات المدخلة لا سببية مؤكدة.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شجع الطلاب على قراءة آخر سطر من الخطأ. لا تطلب إرسال لقطة فقط؛ اطلب وصف السطر الذي توقف.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اجعل الطلاب يعرضون لزميلهم صفًا واحدًا من كل مخرج ويشرحون الشكل فقط.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اسأل دائمًا «فئة أم رقم؟» لا «ما الخوارزمية؟».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تبدأ شرح المقاييس الآن؛ اتركها كفجوة تعليمية مقصودة.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 خروج: اشرح الفرق بين `predict` و`fit` بجملة واحدة.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استخدمها كاستراحة قصيرة أو نقطة انتقال، لا تضف تعليمًا جديدًا.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image" Target="../media/image-23-1.png"/><Relationship Id="rId5" Type="http://schemas.openxmlformats.org/officeDocument/2006/relationships/image" Target="../media/image-2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1.png"/><Relationship Id="rId3" Type="http://schemas.openxmlformats.org/officeDocument/2006/relationships/image" Target="../media/image-28-1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1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1.png"/><Relationship Id="rId3" Type="http://schemas.openxmlformats.org/officeDocument/2006/relationships/image" Target="../media/image-33-1.png"/><Relationship Id="rId4" Type="http://schemas.openxmlformats.org/officeDocument/2006/relationships/image" Target="../media/image-3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أهداف اليوم الثالث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76</a:t>
            </a:r>
            <a:endParaRPr lang="en-US" sz="1000" dirty="0"/>
          </a:p>
        </p:txBody>
      </p:sp>
      <p:pic>
        <p:nvPicPr>
          <p:cNvPr id="7" name="Image 0" descr="/home/claude/work/assets/illustrations/optimized/img_model_gau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تحديد انتقال الطالب من تجهيز البيانات إلى تدريب نماذج وتفسير شكل التوقع.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382012"/>
            <a:ext cx="292608" cy="29260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3820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أختار التصنيف أو الانحدار من شكل الهدف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3140964"/>
            <a:ext cx="292608" cy="29260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31409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907792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أدرب نموذجًا بسيطًا داخل خط المعالجة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3899916"/>
            <a:ext cx="292608" cy="29260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3899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3666744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أستخدم `fit` للتعلم و`predict` للتوقع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4658868"/>
            <a:ext cx="292608" cy="29260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46588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425696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أفهم الفرق بين فئة واحتمال ورقم متوقع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1109960" y="5417820"/>
            <a:ext cx="292608" cy="29260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109960" y="54178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5184648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أجهز ناتجًا سنقيس جودته غدًا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استرجاع: ماذا جهزنا أمس؟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فصلنا الخصائص X عن الهدف 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قسمنا البيانات إلى تدريب واختبار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عالجنا الأرقام والفئات في مسارات مناسبة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حافظنا على بيانات الاختبار غير مرئية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5" name="Image 4" descr="/home/claude/work/assets/icons/FaMicrochi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نضيف النموذج في نهاية الخط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التعلم الخاضع للإشراف: تذكير بصري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0EE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في التدريب: خصائص سابقة + الإجابة الصحيحة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يتعلم النموذج علاقة تقريبية بينهما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في التوقع: خصائص الحالة الجديدة فقط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الإجابة الحقيقية للاختبار نحتفظ بها للقياس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قرارنا الأول: هل الهدف فئة أم رقم؟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أريد اسمًا أو حالة؟ ← تصنيف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أريد قيمة لها مقدار؟ ← انحدار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سيتأخر الطلب؟ ← فئة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3" descr="/home/claude/work/assets/icons/Fa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كم دقيقة سيستغرق؟ ← رقم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التصنيف الثنائي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التصنيف الثنائي: هدف له فئتان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مثالنا: متأخر = 1، في الموعد = 0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 و1 تسميتان للفئتين في الملف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النموذج يتوقع إحدى الفئتين أو احتمال كل فئة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التصنيف متعدد الفئات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Shopping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مستوى الطلب منخفض / متوسط / مرتفع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نوع الرسالة عمل / شخصي / ترويجي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1" descr="/home/claude/work/assets/icons/Fa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الهدف ما زال فئة، لكن عدد الخيارات أكبر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نفس سؤال الاختيار يبقى: هل الناتج تسمية؟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 الفئة إلى الاحتمال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قد يقول النموذج: احتمال التأخر 0.82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Percent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ثم نضع قاعدة قرار: إذا كان الاحتمال 0.50 أو أعلى، نصنفه متأخرًا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الاحتمال ليس ضمانًا؛ هو تقدير مبني على البيانات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3" descr="/home/claude/work/assets/icons/FaSlider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تغيير العتبة يغير عدد التنبيهات والأخطاء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نشاط: أين تضع العتبة؟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إذا كان إرسال التنبيه رخيصًا، هل نميل لعتبة أقل أم أعلى؟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إذا كان كل تنبيه يستهلك وقت موظف، هل نراجع العتبة؟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توجد عتبة صحيحة بلا سياق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3" descr="/home/claude/work/assets/icons/Fa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سنعود لهذا السؤال عند المقاييس غدًا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نموذج مبدئي: لماذا نبدأ ببسيط؟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0EE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النموذج المبدئي يعطي نقطة انطلاق واضحة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يسهل تشغيله وشرح نتائجه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نختار النموذج النهائي قبل المقارنة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إذا لم يفهم الطالب خط سير النموذج البسيط، فلن يحل النموذج المعقد المشكلة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الانحدار اللوجستي للتصنيف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الانحدار اللوجستي (Logistic Regression) نموذج مبدئي شائع للتصنيف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يدخل إليه خط تجهيز البيانات ثم يعيد احتمالًا أو فئة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Ta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رغم كلمة «انحدار» في اسمه، نستخدمه هنا للتصنيف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3" descr="/home/claude/work/assets/icons/Fa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نحتاج إلى حفظ المعادلة لنستخدمه بصورة صحيحة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تصور بصري لقرار التصنيف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Shopping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طلبات قصيرة صباحًا تظهر غالبًا في الموعد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Shopping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طلبات بعيدة مساءً تظهر غالبًا متأخرة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النموذج يبحث عن طريقة فصل مفيدة لا عن قاعدة مثالية لكل حالة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قد توجد حالات متشابهة بنتائج مختلفة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 الكود إلى النموذج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نربط تجهيز الأمس بالنموذج في خط واحد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اسم خطوة التجهيز `prepare` واسم خطوة النموذج `model`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 واحد يعني تجهيزًا متسقًا عند التدريب والتوقع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fit: لحظة التعلم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`fit(X_train, y_train)` يتعلم من خصائص التدريب وإجابات التدريب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 التجهيز يتعلم قيم التعويض والتحجيم من التدريب فقط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بعد `fit` يصبح الخط جاهزًا لتجهيز حالات جديدة بالطريقة نفسها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نمرر بيانات الاختبار للتعلم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predict: لحظة التوقع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`predict(X_test)` يمرر خصائص الاختبار فقط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ListU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الناتج قائمة فئات متوقعة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نقارنها لاحقًا مع `y_test` الذي احتفظنا به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إذا مررنا الإجابات للنموذج أثناء التوقع فلن يكون الاختبار عادلًا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أول خمس توقعات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التوقعات قد تظهر هكذا: `0, 1, 0, 0, 1`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كل رقم يقابل صفًا في X_test بالترتيب نفسه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نستطيع مطابقة توقع واحد بصفه لفهمه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خمسة أسطر لا تكفي للحكم على جودة النموذج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 الأساس: مقارنة بأبسط سلوك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0EE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 الأساس (Baseline): نتيجة بسيطة نستخدمها للمقارنة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توقّع دائمًا الفئة الأكثر تكرارًا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إذا لم يتفوق النموذج على السلوك البسيط، نراجع المشكلة والبيانات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الهدف ليس التفوق الشكلي؛ الهدف قيمة عملية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الانحدار: عندما نريد رقمًا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الانحدار (Regression) يتوقع قيمة عددية لها مقدار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0" descr="/home/claude/work/assets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هدفنا الثاني: `delivery_minutes`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1" descr="/home/claude/work/assets/icons/Fa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التوقع قد يكون 31.2 دقيقة أو 44.8 دقيقة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نقبل فرقًا ما ثم نقيس حجمه لاحقًا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 مرئي: المسافة والوقت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غالبًا تزيد دقائق التوصيل مع المسافة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0" descr="/home/claude/work/assets/icons/Fa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لكن المنطقة وعدد المنتجات ووقت الطلب قد تؤثر أيضًا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الرسم يساعدنا على رؤية اتجاه عام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النموذج يستخدم أكثر من عامل في بياناتنا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الانحدار الخطي كنموذج مبدئي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الانحدار الخطي (Linear Regression) يقدّر اتجاهًا عامًا بين الخصائص والرقم الهدف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يمر الخط بكل نقطة بالضرورة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نستخدمه كنقطة بداية لتوقع الدقائق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1" descr="/home/claude/work/assets/icons/Fa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سنقيس فرق التوقع عن الوقت الحقيقي غدًا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بناء نموذج الانحدار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4800600"/>
          </a:xfrm>
          <a:prstGeom prst="roundRect">
            <a:avLst>
              <a:gd name="adj" fmla="val 1905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نستخدم خط التجهيز نفسه لأن أنواع الخصائص لم تتغير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4800600"/>
          </a:xfrm>
          <a:prstGeom prst="roundRect">
            <a:avLst>
              <a:gd name="adj" fmla="val 1905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8368" y="2494483"/>
            <a:ext cx="5198364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نغير الهدف إلى الدقائق ونغير النموذج فقط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تدريب الانحدار والتوقع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`fit` يتعلم من خصائص التدريب ودقائق التدريب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`predict` يعيد أرقامًا متوقعة لخصائص الاختبار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Ta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نخلط متغيرات تقسيم التصنيف والانحدار دون انتباه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فئة أم رقم؟ مقارنة نهائية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0EE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تصنيف: `1` تعني «متأخر»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انحدار: `31.2` تعني «دقائق متوقعة»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التصنيف سيستخدم مقاييس فئات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الانحدار سيستخدم مقاييس فرق عددي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الشكل الصحيح للمخرج يسبق سؤال الجودة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قراءة الكود من أعلى لأسفل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1. ما المكتبة أو النموذج المستورد؟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2. ما الخصائص والهدف؟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3. أين يوجد خط التجهيز؟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3" descr="/home/claude/work/assets/icons/Fa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4. أين يحدث `fit`؟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5" name="Image 4" descr="/home/claude/work/assets/icons/Fa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5. أين يظهر `predict`؟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نشاط: صحح تسلسلًا خاطئًا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التسلسل الخاطئ: `predict` ← `fit` ← تجهيز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التسلسل الصحيح: تجهيز داخل خط ← `fit` على التدريب ← `predict` للاختبار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لماذا؟ لأن النموذج يحتاج أن يتعلم أولًا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وأي تجهيز يتعلم قيمًا يجب أن يبدأ من التدريب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3: المهمة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هدف المختبر: تدريب نموذج يتوقع التأخر وآخر يتوقع دقائق التوصيل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السيناريو أو البيانات: `طلبات_التوصيل.csv` وخط التجهيز من اليوم الثاني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النتيجة المتوقعة: قائمتا توقعات؛ واحدة فئوية وواحدة رقمية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2" descr="/home/claude/work/assets/icons/Fa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درجة التوجيه: كود هيكل موجود، والطالب يكمل خطوات محددة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3: خطوات التصنيف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1. عرّف y من عمود `late`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2. قسّم X وy إلى تدريب واختبار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028444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3. أنشئ `classifier`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0229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4. شغّل `fit(X_train, y_train)`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391972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5. خزّن `late_predictions` من `predict(X_test)`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3: كود التصنيف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4800600"/>
          </a:xfrm>
          <a:prstGeom prst="roundRect">
            <a:avLst>
              <a:gd name="adj" fmla="val 1905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2494483"/>
            <a:ext cx="10872216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سيكتبه أو يشغله الطالب: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3: خطوات الانحدار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1. عرّف هدف الدقائق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2. استبعد هدف الدقائق وأي معلومة مستقبلية من الخصائص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3. أنشئ تقسيمًا لهذا الهدف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3" descr="/home/claude/work/assets/icons/FaMicro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4. شغّل `fit` للنموذج العددي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391972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5. اطبع أول خمسة أرقام متوقعة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3: كود الانحدار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4800600"/>
          </a:xfrm>
          <a:prstGeom prst="roundRect">
            <a:avLst>
              <a:gd name="adj" fmla="val 1905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2494483"/>
            <a:ext cx="10872216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سيكتبه أو يشغله الطالب: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3: فحص حالة واحدة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0EE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اختر الصف الأول من X_test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اعرض خصائصه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اعرض توقع النموذج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اعرض الحقيقة من y_test بعد حفظ التوقع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اكتب جملة: «توقع النموذج … لأننا أعطيناه …» دون ادعاء سبب مؤكد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3: أخطاء تشغيل شائعة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`NameError`: شغّل خلية تعريف المتغير أو صحح الاسم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0" descr="/home/claude/work/assets/icons/Fa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`KeyError`: اطبع أسماء الأعمدة وتحقق من الاسم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رسالة عدم تطابق صفوف: تحقق من X وy قبل التقسيم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2" descr="/home/claude/work/assets/icons/FaExclamationTria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تمسح الخطأ فقط؛ حدد أول سطر يشير إلى خلية الدفتر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3: النتيجة المتوقعة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List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قائمة فئات متوقعة للتأخر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ListU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قائمة دقائق متوقعة للتوصيل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دفتر يعمل من أول خلية إلى آخر خلية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3" descr="/home/claude/work/assets/icons/FaMicro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ملاحظة قصيرة عن الفرق بين مخرجي النموذجين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5" name="Image 4" descr="/home/claude/work/assets/icons/FaMicrochi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نعلن نجاح النموذج بناءً على أول خمسة توقعات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تمرين قصير: اختر النموذج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سيترك العميل الخدمة؟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مقدار فاتورة العميل القادمة؟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سيشتري العميل المنتج؟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3" descr="/home/claude/work/assets/icons/Fa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كم منتجًا سيشتري العميل؟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الذي لم نفعله بعد؟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لم نقس عدد التوقعات الصحيحة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Exclamation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لم نعرف أي نوع من الأخطاء أخطر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028444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لم نقارن النماذج بعدل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لم نتحقق هل النموذج حفظ التدريب بدل أن يتعلم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5" name="Image 3" descr="/home/claude/work/assets/icons/Fa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غدًا: ننتقل من «لدي توقعات» إلى «هل هي مفيدة؟»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ملخص اليوم الثالث وتمهيد الغد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الفئة ← تصنيف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11012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الرقم ذو المقدار ← انحدار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`fit` يتعلم من التدريب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2" descr="/home/claude/work/assets/icons/Fa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`predict` يتوقع للاختبار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5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غدًا: مقاييس، مصفوفة أخطاء، وتحقيق متقاطع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5B4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فاصل مراجعة: خريطة المهارات حتى الآن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1: سؤال وخصائص وهدف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3" name="Image 1" descr="/home/claude/work/assets/icons/FaCalendar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2: تجهيز وتقسيم وخط معالجة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17" name="Image 2" descr="/home/claude/work/assets/icons/FaTa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3: تصنيف وانحدار وتوقع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F0EEFF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5B4FCF"/>
          </a:solidFill>
          <a:ln/>
        </p:spPr>
      </p:sp>
      <p:pic>
        <p:nvPicPr>
          <p:cNvPr id="21" name="Image 3" descr="/home/claude/work/assets/icons/FaProject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كل خطوة ستظهر في المشروع النهائي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2026-09-07T22:19:00Z</dcterms:created>
  <dcterms:modified xsi:type="dcterms:W3CDTF">2026-09-07T22:19:00Z</dcterms:modified>
</cp:coreProperties>
</file>